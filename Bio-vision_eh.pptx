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77" r:id="rId2"/>
    <p:sldId id="256" r:id="rId3"/>
    <p:sldId id="257"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Lst>
  <p:sldSz cx="14630400" cy="8229600"/>
  <p:notesSz cx="8229600" cy="14630400"/>
  <p:embeddedFontLst>
    <p:embeddedFont>
      <p:font typeface="Consolas" panose="020B0609020204030204" pitchFamily="49" charset="0"/>
      <p:regular r:id="rId24"/>
      <p:bold r:id="rId25"/>
      <p:italic r:id="rId26"/>
      <p:boldItalic r:id="rId27"/>
    </p:embeddedFont>
    <p:embeddedFont>
      <p:font typeface="Roboto Condensed" panose="020F050202020403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02" d="100"/>
          <a:sy n="102" d="100"/>
        </p:scale>
        <p:origin x="19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97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39274-90E0-FD85-11D5-3F323CD71937}"/>
              </a:ext>
            </a:extLst>
          </p:cNvPr>
          <p:cNvSpPr txBox="1"/>
          <p:nvPr/>
        </p:nvSpPr>
        <p:spPr>
          <a:xfrm>
            <a:off x="1752600" y="1761335"/>
            <a:ext cx="11125200" cy="2353465"/>
          </a:xfrm>
          <a:prstGeom prst="rect">
            <a:avLst/>
          </a:prstGeom>
          <a:noFill/>
        </p:spPr>
        <p:txBody>
          <a:bodyPr wrap="square" rtlCol="0">
            <a:spAutoFit/>
          </a:bodyPr>
          <a:lstStyle/>
          <a:p>
            <a:pPr algn="ctr"/>
            <a:r>
              <a:rPr lang="en-US" sz="2400" b="1" dirty="0"/>
              <a:t>Department of Computer Science</a:t>
            </a:r>
            <a:br>
              <a:rPr lang="en-US" sz="2400" b="1" dirty="0"/>
            </a:br>
            <a:r>
              <a:rPr lang="en-US" sz="2400" b="1" dirty="0"/>
              <a:t>Gujarat University</a:t>
            </a:r>
          </a:p>
          <a:p>
            <a:pPr algn="ctr">
              <a:lnSpc>
                <a:spcPct val="107000"/>
              </a:lnSpc>
              <a:spcAft>
                <a:spcPts val="800"/>
              </a:spcAft>
            </a:pPr>
            <a:r>
              <a:rPr lang="en-IN" sz="2400" b="1" dirty="0">
                <a:latin typeface="Arial" panose="020B0604020202020204" pitchFamily="34" charset="0"/>
                <a:ea typeface="Calibri" panose="020F0502020204030204" pitchFamily="34" charset="0"/>
                <a:cs typeface="Times New Roman" panose="02020603050405020304" pitchFamily="18" charset="0"/>
              </a:rPr>
              <a:t>M.Sc.(Artificial Intelligence &amp; Machine Learning) </a:t>
            </a:r>
            <a:r>
              <a:rPr lang="en-US" sz="2400" b="1" dirty="0">
                <a:latin typeface="Calibri" panose="020F0502020204030204" pitchFamily="34" charset="0"/>
                <a:ea typeface="Calibri" panose="020F0502020204030204" pitchFamily="34" charset="0"/>
                <a:cs typeface="Times New Roman" panose="02020603050405020304" pitchFamily="18" charset="0"/>
              </a:rPr>
              <a:t>– II</a:t>
            </a:r>
            <a:endParaRPr lang="en-IN" sz="2400" b="1"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2400" dirty="0"/>
          </a:p>
          <a:p>
            <a:pPr marL="0" marR="0" algn="ctr">
              <a:lnSpc>
                <a:spcPct val="107000"/>
              </a:lnSpc>
              <a:spcBef>
                <a:spcPts val="0"/>
              </a:spcBef>
              <a:spcAft>
                <a:spcPts val="0"/>
              </a:spcAft>
            </a:pPr>
            <a:r>
              <a:rPr lang="en-US" sz="3200" b="1" kern="100">
                <a:latin typeface="Calibri" panose="020F0502020204030204" pitchFamily="34" charset="0"/>
                <a:ea typeface="Calibri" panose="020F0502020204030204" pitchFamily="34" charset="0"/>
                <a:cs typeface="Calibri" panose="020F0502020204030204" pitchFamily="34" charset="0"/>
              </a:rPr>
              <a:t>BIO-VISION </a:t>
            </a:r>
            <a:r>
              <a:rPr lang="en-US" sz="3200" b="1" kern="100" dirty="0">
                <a:latin typeface="Calibri" panose="020F0502020204030204" pitchFamily="34" charset="0"/>
                <a:ea typeface="Calibri" panose="020F0502020204030204" pitchFamily="34" charset="0"/>
                <a:cs typeface="Calibri" panose="020F0502020204030204" pitchFamily="34" charset="0"/>
              </a:rPr>
              <a:t>AI </a:t>
            </a:r>
            <a:endParaRPr lang="en-US" sz="32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9EBDD0A3-323E-F9F8-8CAC-F2F038F6D5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4070" y="141035"/>
            <a:ext cx="1462260" cy="1462260"/>
          </a:xfrm>
          <a:prstGeom prst="rect">
            <a:avLst/>
          </a:prstGeom>
        </p:spPr>
      </p:pic>
      <p:sp>
        <p:nvSpPr>
          <p:cNvPr id="4" name="Subtitle 2">
            <a:extLst>
              <a:ext uri="{FF2B5EF4-FFF2-40B4-BE49-F238E27FC236}">
                <a16:creationId xmlns:a16="http://schemas.microsoft.com/office/drawing/2014/main" id="{4B999DBD-329E-21DA-74E9-B91DA469B27E}"/>
              </a:ext>
            </a:extLst>
          </p:cNvPr>
          <p:cNvSpPr txBox="1">
            <a:spLocks/>
          </p:cNvSpPr>
          <p:nvPr/>
        </p:nvSpPr>
        <p:spPr>
          <a:xfrm>
            <a:off x="1391011" y="5256651"/>
            <a:ext cx="3810000" cy="164441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700" b="1" dirty="0"/>
              <a:t>Presented By: </a:t>
            </a:r>
          </a:p>
          <a:p>
            <a:pPr marL="0" indent="0">
              <a:buNone/>
            </a:pPr>
            <a:r>
              <a:rPr lang="en-US" sz="2700" dirty="0" err="1"/>
              <a:t>Harshil</a:t>
            </a:r>
            <a:r>
              <a:rPr lang="en-US" sz="2700" dirty="0"/>
              <a:t> Chauhan (04)</a:t>
            </a:r>
          </a:p>
        </p:txBody>
      </p:sp>
      <p:sp>
        <p:nvSpPr>
          <p:cNvPr id="5" name="Subtitle 2">
            <a:extLst>
              <a:ext uri="{FF2B5EF4-FFF2-40B4-BE49-F238E27FC236}">
                <a16:creationId xmlns:a16="http://schemas.microsoft.com/office/drawing/2014/main" id="{9AF86373-1B3A-CC8C-C5BC-2E90FD2009CC}"/>
              </a:ext>
            </a:extLst>
          </p:cNvPr>
          <p:cNvSpPr txBox="1">
            <a:spLocks/>
          </p:cNvSpPr>
          <p:nvPr/>
        </p:nvSpPr>
        <p:spPr>
          <a:xfrm>
            <a:off x="9111610" y="5256651"/>
            <a:ext cx="5144416" cy="1365874"/>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700" b="1" dirty="0">
                <a:solidFill>
                  <a:schemeClr val="tx1"/>
                </a:solidFill>
              </a:rPr>
              <a:t>Under the Guidance of :</a:t>
            </a:r>
          </a:p>
          <a:p>
            <a:pPr algn="l"/>
            <a:r>
              <a:rPr lang="en-US" sz="2700" dirty="0">
                <a:solidFill>
                  <a:schemeClr val="tx1"/>
                </a:solidFill>
              </a:rPr>
              <a:t>Ms. Anju Jha</a:t>
            </a:r>
          </a:p>
        </p:txBody>
      </p:sp>
      <p:sp>
        <p:nvSpPr>
          <p:cNvPr id="7" name="Footer Placeholder 3">
            <a:extLst>
              <a:ext uri="{FF2B5EF4-FFF2-40B4-BE49-F238E27FC236}">
                <a16:creationId xmlns:a16="http://schemas.microsoft.com/office/drawing/2014/main" id="{EEF49138-8DF6-2FFE-CD2E-77800DD61C49}"/>
              </a:ext>
            </a:extLst>
          </p:cNvPr>
          <p:cNvSpPr txBox="1">
            <a:spLocks/>
          </p:cNvSpPr>
          <p:nvPr/>
        </p:nvSpPr>
        <p:spPr>
          <a:xfrm>
            <a:off x="5201011" y="7777628"/>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extLst>
      <p:ext uri="{BB962C8B-B14F-4D97-AF65-F5344CB8AC3E}">
        <p14:creationId xmlns:p14="http://schemas.microsoft.com/office/powerpoint/2010/main" val="1113581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93790" y="1409105"/>
            <a:ext cx="3361730" cy="388382"/>
          </a:xfrm>
          <a:prstGeom prst="roundRect">
            <a:avLst>
              <a:gd name="adj" fmla="val 6132"/>
            </a:avLst>
          </a:prstGeom>
          <a:noFill/>
          <a:ln w="7620">
            <a:solidFill>
              <a:srgbClr val="1E1E1A"/>
            </a:solidFill>
            <a:prstDash val="solid"/>
          </a:ln>
        </p:spPr>
      </p:sp>
      <p:sp>
        <p:nvSpPr>
          <p:cNvPr id="3" name="Text 1"/>
          <p:cNvSpPr/>
          <p:nvPr/>
        </p:nvSpPr>
        <p:spPr>
          <a:xfrm>
            <a:off x="920472" y="1476256"/>
            <a:ext cx="3108365" cy="254079"/>
          </a:xfrm>
          <a:prstGeom prst="rect">
            <a:avLst/>
          </a:prstGeom>
          <a:noFill/>
          <a:ln/>
        </p:spPr>
        <p:txBody>
          <a:bodyPr wrap="none" lIns="0" tIns="0" rIns="0" bIns="0" rtlCol="0" anchor="t"/>
          <a:lstStyle/>
          <a:p>
            <a:pPr marL="0" indent="0" algn="l">
              <a:lnSpc>
                <a:spcPts val="2000"/>
              </a:lnSpc>
              <a:buNone/>
            </a:pPr>
            <a:r>
              <a:rPr lang="en-US" sz="1250" dirty="0">
                <a:solidFill>
                  <a:srgbClr val="1E1E1A"/>
                </a:solidFill>
                <a:latin typeface="Roboto Condensed" pitchFamily="34" charset="0"/>
                <a:ea typeface="Roboto Condensed" pitchFamily="34" charset="-122"/>
                <a:cs typeface="Roboto Condensed" pitchFamily="34" charset="-120"/>
              </a:rPr>
              <a:t>MASTER'S RESEARCH THESIS · BIOVISION AI LAB</a:t>
            </a:r>
            <a:endParaRPr lang="en-US" sz="1250" dirty="0"/>
          </a:p>
        </p:txBody>
      </p:sp>
      <p:sp>
        <p:nvSpPr>
          <p:cNvPr id="4" name="Text 2"/>
          <p:cNvSpPr/>
          <p:nvPr/>
        </p:nvSpPr>
        <p:spPr>
          <a:xfrm>
            <a:off x="793790" y="1876782"/>
            <a:ext cx="13042821" cy="2480310"/>
          </a:xfrm>
          <a:prstGeom prst="rect">
            <a:avLst/>
          </a:prstGeom>
          <a:noFill/>
          <a:ln/>
        </p:spPr>
        <p:txBody>
          <a:bodyPr wrap="squar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DEVELOPMENT OF A COMPUTER VISION-BASED DATASET FOR AUTOMATED GYM EXERCISE FORM ANALYSIS AND CORRECTION USING MEDIAPIPE POSE ESTIMATION</a:t>
            </a:r>
            <a:endParaRPr lang="en-US" sz="3900" dirty="0"/>
          </a:p>
        </p:txBody>
      </p:sp>
      <p:sp>
        <p:nvSpPr>
          <p:cNvPr id="5" name="Text 3"/>
          <p:cNvSpPr/>
          <p:nvPr/>
        </p:nvSpPr>
        <p:spPr>
          <a:xfrm>
            <a:off x="793790" y="4654748"/>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55575A"/>
                </a:solidFill>
                <a:latin typeface="Roboto Condensed" pitchFamily="34" charset="0"/>
                <a:ea typeface="Roboto Condensed" pitchFamily="34" charset="-122"/>
                <a:cs typeface="Roboto Condensed" pitchFamily="34" charset="-120"/>
              </a:rPr>
              <a:t>Student:</a:t>
            </a:r>
            <a:r>
              <a:rPr lang="en-US" sz="1550" dirty="0">
                <a:solidFill>
                  <a:srgbClr val="55575A"/>
                </a:solidFill>
                <a:latin typeface="Roboto Condensed" pitchFamily="34" charset="0"/>
                <a:ea typeface="Roboto Condensed" pitchFamily="34" charset="-122"/>
                <a:cs typeface="Roboto Condensed" pitchFamily="34" charset="-120"/>
              </a:rPr>
              <a:t> Harshil Chauhan </a:t>
            </a:r>
            <a:r>
              <a:rPr lang="en-US" sz="1550" b="1" dirty="0">
                <a:solidFill>
                  <a:srgbClr val="55575A"/>
                </a:solidFill>
                <a:latin typeface="Roboto Condensed" pitchFamily="34" charset="0"/>
                <a:ea typeface="Roboto Condensed" pitchFamily="34" charset="-122"/>
                <a:cs typeface="Roboto Condensed" pitchFamily="34" charset="-120"/>
              </a:rPr>
              <a:t>Research Supervisor(s):</a:t>
            </a:r>
            <a:r>
              <a:rPr lang="en-US" sz="1550" dirty="0">
                <a:solidFill>
                  <a:srgbClr val="55575A"/>
                </a:solidFill>
                <a:latin typeface="Roboto Condensed" pitchFamily="34" charset="0"/>
                <a:ea typeface="Roboto Condensed" pitchFamily="34" charset="-122"/>
                <a:cs typeface="Roboto Condensed" pitchFamily="34" charset="-120"/>
              </a:rPr>
              <a:t> Mrs. Anju Jha</a:t>
            </a:r>
            <a:endParaRPr lang="en-US" sz="1550" dirty="0"/>
          </a:p>
        </p:txBody>
      </p:sp>
      <p:sp>
        <p:nvSpPr>
          <p:cNvPr id="6" name="Shape 4"/>
          <p:cNvSpPr/>
          <p:nvPr/>
        </p:nvSpPr>
        <p:spPr>
          <a:xfrm>
            <a:off x="793790" y="5294679"/>
            <a:ext cx="13042821" cy="32385"/>
          </a:xfrm>
          <a:prstGeom prst="rect">
            <a:avLst/>
          </a:prstGeom>
          <a:solidFill>
            <a:srgbClr val="55575A">
              <a:alpha val="50000"/>
            </a:srgbClr>
          </a:solidFill>
          <a:ln/>
        </p:spPr>
      </p:sp>
      <p:sp>
        <p:nvSpPr>
          <p:cNvPr id="7" name="Text 5"/>
          <p:cNvSpPr/>
          <p:nvPr/>
        </p:nvSpPr>
        <p:spPr>
          <a:xfrm>
            <a:off x="793790" y="5550218"/>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This research presents a complete, automated pipeline for building a high-quality, labelled dataset for AI-powered gym exercise form analysis. Using Python, OpenCV, and Google's MediaPipe Pose estimation, the system processes videos of common gym exercises — push-up, plank, bicep curl, squat, deadlift — performed in both correct ("Good") and incorrect ("Bad") form. The pipeline extracts four key joint angles (Elbow, Shoulder, Hip, Knee), filters low-visibility and static frames, and generates a professionally styled Excel output with full dataset, summary statistics, and per-exercise sheets.</a:t>
            </a:r>
            <a:endParaRPr lang="en-US" sz="1550" dirty="0"/>
          </a:p>
        </p:txBody>
      </p:sp>
      <p:pic>
        <p:nvPicPr>
          <p:cNvPr id="10" name="Picture 9">
            <a:extLst>
              <a:ext uri="{FF2B5EF4-FFF2-40B4-BE49-F238E27FC236}">
                <a16:creationId xmlns:a16="http://schemas.microsoft.com/office/drawing/2014/main" id="{84B34A76-195C-FA7E-1F91-D38783BD9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1" name="Footer Placeholder 3">
            <a:extLst>
              <a:ext uri="{FF2B5EF4-FFF2-40B4-BE49-F238E27FC236}">
                <a16:creationId xmlns:a16="http://schemas.microsoft.com/office/drawing/2014/main" id="{386E63D1-C11A-06D9-FFD7-07D10F0FD094}"/>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984772"/>
            <a:ext cx="1219676" cy="373142"/>
          </a:xfrm>
          <a:prstGeom prst="roundRect">
            <a:avLst>
              <a:gd name="adj" fmla="val 6383"/>
            </a:avLst>
          </a:prstGeom>
          <a:solidFill>
            <a:srgbClr val="E7E7E4"/>
          </a:solidFill>
          <a:ln/>
        </p:spPr>
      </p:sp>
      <p:sp>
        <p:nvSpPr>
          <p:cNvPr id="3" name="Text 1"/>
          <p:cNvSpPr/>
          <p:nvPr/>
        </p:nvSpPr>
        <p:spPr>
          <a:xfrm>
            <a:off x="912852" y="2044303"/>
            <a:ext cx="981551"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INTRODUCTION</a:t>
            </a:r>
            <a:endParaRPr lang="en-US" sz="1250" dirty="0"/>
          </a:p>
        </p:txBody>
      </p:sp>
      <p:sp>
        <p:nvSpPr>
          <p:cNvPr id="4" name="Text 2"/>
          <p:cNvSpPr/>
          <p:nvPr/>
        </p:nvSpPr>
        <p:spPr>
          <a:xfrm>
            <a:off x="793790" y="2437209"/>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INTRODUCTION</a:t>
            </a:r>
            <a:endParaRPr lang="en-US" sz="3900" dirty="0"/>
          </a:p>
        </p:txBody>
      </p:sp>
      <p:sp>
        <p:nvSpPr>
          <p:cNvPr id="5" name="Shape 3"/>
          <p:cNvSpPr/>
          <p:nvPr/>
        </p:nvSpPr>
        <p:spPr>
          <a:xfrm>
            <a:off x="650915" y="3354943"/>
            <a:ext cx="6565106" cy="2889766"/>
          </a:xfrm>
          <a:prstGeom prst="roundRect">
            <a:avLst>
              <a:gd name="adj" fmla="val 1030"/>
            </a:avLst>
          </a:prstGeom>
          <a:solidFill>
            <a:srgbClr val="1E1E1A"/>
          </a:solidFill>
          <a:ln/>
        </p:spPr>
      </p:sp>
      <p:sp>
        <p:nvSpPr>
          <p:cNvPr id="6" name="Text 4"/>
          <p:cNvSpPr/>
          <p:nvPr/>
        </p:nvSpPr>
        <p:spPr>
          <a:xfrm>
            <a:off x="849273" y="355330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Hubot Sans Bold" pitchFamily="34" charset="0"/>
                <a:ea typeface="Hubot Sans Bold" pitchFamily="34" charset="-122"/>
                <a:cs typeface="Hubot Sans Bold" pitchFamily="34" charset="-120"/>
              </a:rPr>
              <a:t>RESEARCH FOCUS</a:t>
            </a:r>
            <a:endParaRPr lang="en-US" sz="1950" dirty="0"/>
          </a:p>
        </p:txBody>
      </p:sp>
      <p:sp>
        <p:nvSpPr>
          <p:cNvPr id="7" name="Text 5"/>
          <p:cNvSpPr/>
          <p:nvPr/>
        </p:nvSpPr>
        <p:spPr>
          <a:xfrm>
            <a:off x="849273" y="4061817"/>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Condensed" pitchFamily="34" charset="0"/>
                <a:ea typeface="Roboto Condensed" pitchFamily="34" charset="-122"/>
                <a:cs typeface="Roboto Condensed" pitchFamily="34" charset="-120"/>
              </a:rPr>
              <a:t>This research addresses the development of a computer vision dataset for real-time gym exercise form analysis — enabling automated, objective assessment of exercise technique without manual supervision.</a:t>
            </a:r>
            <a:endParaRPr lang="en-US" sz="1550" dirty="0"/>
          </a:p>
        </p:txBody>
      </p:sp>
      <p:sp>
        <p:nvSpPr>
          <p:cNvPr id="8" name="Text 6"/>
          <p:cNvSpPr/>
          <p:nvPr/>
        </p:nvSpPr>
        <p:spPr>
          <a:xfrm>
            <a:off x="7564874" y="3553301"/>
            <a:ext cx="4221599"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WHY EXERCISE FORM MATTERS</a:t>
            </a:r>
            <a:endParaRPr lang="en-US" sz="1950" dirty="0"/>
          </a:p>
        </p:txBody>
      </p:sp>
      <p:sp>
        <p:nvSpPr>
          <p:cNvPr id="9" name="Text 7"/>
          <p:cNvSpPr/>
          <p:nvPr/>
        </p:nvSpPr>
        <p:spPr>
          <a:xfrm>
            <a:off x="7564874" y="4061817"/>
            <a:ext cx="6279356" cy="2113478"/>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Incorrect form is a leading cause of gym-related musculoskeletal injuries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Proper technique directly influences training efficiency and performance gains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AI-powered fitness coaching is experiencing rapid global adoption</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Current solutions lack standardised, labelled datasets for training robust models</a:t>
            </a:r>
            <a:endParaRPr lang="en-US" sz="1550" dirty="0"/>
          </a:p>
        </p:txBody>
      </p:sp>
      <p:pic>
        <p:nvPicPr>
          <p:cNvPr id="10" name="Picture 9">
            <a:extLst>
              <a:ext uri="{FF2B5EF4-FFF2-40B4-BE49-F238E27FC236}">
                <a16:creationId xmlns:a16="http://schemas.microsoft.com/office/drawing/2014/main" id="{DBE65200-D1F7-5FB8-CE9D-AFB6E5A122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1" name="Footer Placeholder 3">
            <a:extLst>
              <a:ext uri="{FF2B5EF4-FFF2-40B4-BE49-F238E27FC236}">
                <a16:creationId xmlns:a16="http://schemas.microsoft.com/office/drawing/2014/main" id="{4CB604ED-A2D6-8757-FA36-BB66C038F337}"/>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478756"/>
            <a:ext cx="1591508" cy="373142"/>
          </a:xfrm>
          <a:prstGeom prst="roundRect">
            <a:avLst>
              <a:gd name="adj" fmla="val 6383"/>
            </a:avLst>
          </a:prstGeom>
          <a:solidFill>
            <a:srgbClr val="E7E7E4"/>
          </a:solidFill>
          <a:ln/>
        </p:spPr>
      </p:sp>
      <p:sp>
        <p:nvSpPr>
          <p:cNvPr id="3" name="Text 1"/>
          <p:cNvSpPr/>
          <p:nvPr/>
        </p:nvSpPr>
        <p:spPr>
          <a:xfrm>
            <a:off x="912852" y="1538288"/>
            <a:ext cx="1353383"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RESEARCH PROBLEM</a:t>
            </a:r>
            <a:endParaRPr lang="en-US" sz="1250" dirty="0"/>
          </a:p>
        </p:txBody>
      </p:sp>
      <p:sp>
        <p:nvSpPr>
          <p:cNvPr id="4" name="Text 2"/>
          <p:cNvSpPr/>
          <p:nvPr/>
        </p:nvSpPr>
        <p:spPr>
          <a:xfrm>
            <a:off x="793790" y="1931194"/>
            <a:ext cx="5567124"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RESEARCH PROBLEM</a:t>
            </a:r>
            <a:endParaRPr lang="en-US" sz="3900" dirty="0"/>
          </a:p>
        </p:txBody>
      </p:sp>
      <p:sp>
        <p:nvSpPr>
          <p:cNvPr id="5" name="Text 3"/>
          <p:cNvSpPr/>
          <p:nvPr/>
        </p:nvSpPr>
        <p:spPr>
          <a:xfrm>
            <a:off x="793790" y="304728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THE CORE GAP</a:t>
            </a:r>
            <a:endParaRPr lang="en-US" sz="1950" dirty="0"/>
          </a:p>
        </p:txBody>
      </p:sp>
      <p:sp>
        <p:nvSpPr>
          <p:cNvPr id="6" name="Text 4"/>
          <p:cNvSpPr/>
          <p:nvPr/>
        </p:nvSpPr>
        <p:spPr>
          <a:xfrm>
            <a:off x="793790" y="3555802"/>
            <a:ext cx="6955631"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Despite rapid advances in pose estimation technology, there exists a critical shortage of high-quality, labelled datasets specifically designed for training AI models to detect incorrect gym exercise form. Existing datasets are either proprietary, unlabeled, or focused on general human activity rather than structured exercise biomechanics.</a:t>
            </a:r>
            <a:endParaRPr lang="en-US" sz="1550" dirty="0"/>
          </a:p>
        </p:txBody>
      </p:sp>
      <p:sp>
        <p:nvSpPr>
          <p:cNvPr id="7" name="Shape 5"/>
          <p:cNvSpPr/>
          <p:nvPr/>
        </p:nvSpPr>
        <p:spPr>
          <a:xfrm>
            <a:off x="793790" y="5049203"/>
            <a:ext cx="6955631" cy="1478280"/>
          </a:xfrm>
          <a:prstGeom prst="roundRect">
            <a:avLst>
              <a:gd name="adj" fmla="val 2014"/>
            </a:avLst>
          </a:prstGeom>
          <a:solidFill>
            <a:srgbClr val="DBDBD6"/>
          </a:solidFill>
          <a:ln/>
        </p:spPr>
      </p:sp>
      <p:pic>
        <p:nvPicPr>
          <p:cNvPr id="8" name="Image 0" descr="preencoded.png"/>
          <p:cNvPicPr>
            <a:picLocks noChangeAspect="1"/>
          </p:cNvPicPr>
          <p:nvPr/>
        </p:nvPicPr>
        <p:blipFill>
          <a:blip r:embed="rId3"/>
          <a:stretch>
            <a:fillRect/>
          </a:stretch>
        </p:blipFill>
        <p:spPr>
          <a:xfrm>
            <a:off x="992148" y="5344478"/>
            <a:ext cx="248007" cy="198358"/>
          </a:xfrm>
          <a:prstGeom prst="rect">
            <a:avLst/>
          </a:prstGeom>
        </p:spPr>
      </p:pic>
      <p:sp>
        <p:nvSpPr>
          <p:cNvPr id="9" name="Text 6"/>
          <p:cNvSpPr/>
          <p:nvPr/>
        </p:nvSpPr>
        <p:spPr>
          <a:xfrm>
            <a:off x="1438513" y="5297091"/>
            <a:ext cx="6112550" cy="95261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Roboto Condensed" pitchFamily="34" charset="0"/>
                <a:ea typeface="Roboto Condensed" pitchFamily="34" charset="-122"/>
                <a:cs typeface="Roboto Condensed" pitchFamily="34" charset="-120"/>
              </a:rPr>
              <a:t>Motivation:</a:t>
            </a:r>
            <a:r>
              <a:rPr lang="en-US" sz="1550" dirty="0">
                <a:solidFill>
                  <a:srgbClr val="000000"/>
                </a:solidFill>
                <a:latin typeface="Roboto Condensed" pitchFamily="34" charset="0"/>
                <a:ea typeface="Roboto Condensed" pitchFamily="34" charset="-122"/>
                <a:cs typeface="Roboto Condensed" pitchFamily="34" charset="-120"/>
              </a:rPr>
              <a:t> Incorrect form leads to injuries and suboptimal results; current solutions are either manual (trainer-dependent) or lack standardised data for reproducible AI training.</a:t>
            </a:r>
            <a:endParaRPr lang="en-US" sz="1550" dirty="0"/>
          </a:p>
        </p:txBody>
      </p:sp>
      <p:sp>
        <p:nvSpPr>
          <p:cNvPr id="10" name="Text 7"/>
          <p:cNvSpPr/>
          <p:nvPr/>
        </p:nvSpPr>
        <p:spPr>
          <a:xfrm>
            <a:off x="8241149" y="3047286"/>
            <a:ext cx="3785116"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CONSEQUENCES OF THE GAP</a:t>
            </a:r>
            <a:endParaRPr lang="en-US" sz="1950" dirty="0"/>
          </a:p>
        </p:txBody>
      </p:sp>
      <p:sp>
        <p:nvSpPr>
          <p:cNvPr id="11" name="Text 8"/>
          <p:cNvSpPr/>
          <p:nvPr/>
        </p:nvSpPr>
        <p:spPr>
          <a:xfrm>
            <a:off x="8241149" y="3555802"/>
            <a:ext cx="5602962"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No open benchmark for gym form correction research</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Trainer-dependent feedback is inconsistent and costly</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Home exercisers lack access to objective form assessment</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AI fitness applications rely on synthetic or poorly labelled data</a:t>
            </a:r>
            <a:endParaRPr lang="en-US" sz="1550" dirty="0"/>
          </a:p>
        </p:txBody>
      </p:sp>
      <p:pic>
        <p:nvPicPr>
          <p:cNvPr id="12" name="Picture 11">
            <a:extLst>
              <a:ext uri="{FF2B5EF4-FFF2-40B4-BE49-F238E27FC236}">
                <a16:creationId xmlns:a16="http://schemas.microsoft.com/office/drawing/2014/main" id="{5BADB48B-3D65-67BE-44CB-C9240A77B3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3" name="Footer Placeholder 3">
            <a:extLst>
              <a:ext uri="{FF2B5EF4-FFF2-40B4-BE49-F238E27FC236}">
                <a16:creationId xmlns:a16="http://schemas.microsoft.com/office/drawing/2014/main" id="{0F95D432-53D9-528E-3572-CF1C60955E57}"/>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037495" y="1244296"/>
            <a:ext cx="1035963" cy="373142"/>
          </a:xfrm>
          <a:prstGeom prst="roundRect">
            <a:avLst>
              <a:gd name="adj" fmla="val 6383"/>
            </a:avLst>
          </a:prstGeom>
          <a:solidFill>
            <a:srgbClr val="E7E7E4"/>
          </a:solidFill>
          <a:ln/>
        </p:spPr>
      </p:sp>
      <p:sp>
        <p:nvSpPr>
          <p:cNvPr id="3" name="Text 1"/>
          <p:cNvSpPr/>
          <p:nvPr/>
        </p:nvSpPr>
        <p:spPr>
          <a:xfrm>
            <a:off x="1156557" y="1286231"/>
            <a:ext cx="797838"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OBJECTIVES</a:t>
            </a:r>
            <a:endParaRPr lang="en-US" sz="1250" dirty="0"/>
          </a:p>
        </p:txBody>
      </p:sp>
      <p:sp>
        <p:nvSpPr>
          <p:cNvPr id="4" name="Text 2"/>
          <p:cNvSpPr/>
          <p:nvPr/>
        </p:nvSpPr>
        <p:spPr>
          <a:xfrm>
            <a:off x="793790" y="1680924"/>
            <a:ext cx="8352949"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OBJECTIVES OF THE RESEARCH</a:t>
            </a:r>
            <a:endParaRPr lang="en-US" sz="3900" dirty="0"/>
          </a:p>
        </p:txBody>
      </p:sp>
      <p:sp>
        <p:nvSpPr>
          <p:cNvPr id="5" name="Shape 3"/>
          <p:cNvSpPr/>
          <p:nvPr/>
        </p:nvSpPr>
        <p:spPr>
          <a:xfrm>
            <a:off x="793790" y="2598658"/>
            <a:ext cx="6422231" cy="2102048"/>
          </a:xfrm>
          <a:prstGeom prst="roundRect">
            <a:avLst>
              <a:gd name="adj" fmla="val 1416"/>
            </a:avLst>
          </a:prstGeom>
          <a:solidFill>
            <a:srgbClr val="E8E8E3"/>
          </a:solidFill>
          <a:ln w="22860">
            <a:solidFill>
              <a:srgbClr val="C8CAC1"/>
            </a:solidFill>
            <a:prstDash val="solid"/>
          </a:ln>
        </p:spPr>
      </p:sp>
      <p:sp>
        <p:nvSpPr>
          <p:cNvPr id="6" name="Shape 4"/>
          <p:cNvSpPr/>
          <p:nvPr/>
        </p:nvSpPr>
        <p:spPr>
          <a:xfrm>
            <a:off x="816650" y="2621518"/>
            <a:ext cx="6376511" cy="595313"/>
          </a:xfrm>
          <a:prstGeom prst="roundRect">
            <a:avLst>
              <a:gd name="adj" fmla="val 393"/>
            </a:avLst>
          </a:prstGeom>
          <a:solidFill>
            <a:srgbClr val="C8CAC1">
              <a:alpha val="50000"/>
            </a:srgbClr>
          </a:solidFill>
          <a:ln/>
        </p:spPr>
      </p:sp>
      <p:sp>
        <p:nvSpPr>
          <p:cNvPr id="7" name="Text 5"/>
          <p:cNvSpPr/>
          <p:nvPr/>
        </p:nvSpPr>
        <p:spPr>
          <a:xfrm>
            <a:off x="3856077" y="273308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1</a:t>
            </a:r>
            <a:endParaRPr lang="en-US" sz="2300" dirty="0"/>
          </a:p>
        </p:txBody>
      </p:sp>
      <p:sp>
        <p:nvSpPr>
          <p:cNvPr id="8" name="Text 6"/>
          <p:cNvSpPr/>
          <p:nvPr/>
        </p:nvSpPr>
        <p:spPr>
          <a:xfrm>
            <a:off x="1015008" y="3415189"/>
            <a:ext cx="4520208"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STRUCTURED DATASET CREATION</a:t>
            </a:r>
            <a:endParaRPr lang="en-US" sz="1950" dirty="0"/>
          </a:p>
        </p:txBody>
      </p:sp>
      <p:sp>
        <p:nvSpPr>
          <p:cNvPr id="9" name="Text 7"/>
          <p:cNvSpPr/>
          <p:nvPr/>
        </p:nvSpPr>
        <p:spPr>
          <a:xfrm>
            <a:off x="1015008" y="3844409"/>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Create a structured, labelled dataset using pose estimation for multiple gym exercises, with clear "Good" and "Bad" form classifications.</a:t>
            </a:r>
            <a:endParaRPr lang="en-US" sz="1550" dirty="0"/>
          </a:p>
        </p:txBody>
      </p:sp>
      <p:sp>
        <p:nvSpPr>
          <p:cNvPr id="10" name="Shape 8"/>
          <p:cNvSpPr/>
          <p:nvPr/>
        </p:nvSpPr>
        <p:spPr>
          <a:xfrm>
            <a:off x="7414379" y="2598658"/>
            <a:ext cx="6422231" cy="2102048"/>
          </a:xfrm>
          <a:prstGeom prst="roundRect">
            <a:avLst>
              <a:gd name="adj" fmla="val 1416"/>
            </a:avLst>
          </a:prstGeom>
          <a:solidFill>
            <a:srgbClr val="E8E8E3"/>
          </a:solidFill>
          <a:ln w="22860">
            <a:solidFill>
              <a:srgbClr val="C8CAC1"/>
            </a:solidFill>
            <a:prstDash val="solid"/>
          </a:ln>
        </p:spPr>
      </p:sp>
      <p:sp>
        <p:nvSpPr>
          <p:cNvPr id="11" name="Shape 9"/>
          <p:cNvSpPr/>
          <p:nvPr/>
        </p:nvSpPr>
        <p:spPr>
          <a:xfrm>
            <a:off x="7437239" y="2621518"/>
            <a:ext cx="6376511" cy="595313"/>
          </a:xfrm>
          <a:prstGeom prst="roundRect">
            <a:avLst>
              <a:gd name="adj" fmla="val 393"/>
            </a:avLst>
          </a:prstGeom>
          <a:solidFill>
            <a:srgbClr val="C8CAC1">
              <a:alpha val="50000"/>
            </a:srgbClr>
          </a:solidFill>
          <a:ln/>
        </p:spPr>
      </p:sp>
      <p:sp>
        <p:nvSpPr>
          <p:cNvPr id="12" name="Text 10"/>
          <p:cNvSpPr/>
          <p:nvPr/>
        </p:nvSpPr>
        <p:spPr>
          <a:xfrm>
            <a:off x="10476667" y="273308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2</a:t>
            </a:r>
            <a:endParaRPr lang="en-US" sz="2300" dirty="0"/>
          </a:p>
        </p:txBody>
      </p:sp>
      <p:sp>
        <p:nvSpPr>
          <p:cNvPr id="13" name="Text 11"/>
          <p:cNvSpPr/>
          <p:nvPr/>
        </p:nvSpPr>
        <p:spPr>
          <a:xfrm>
            <a:off x="7635597" y="3415189"/>
            <a:ext cx="5095042"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AUTOMATED PIPELINE DEVELOPMENT</a:t>
            </a:r>
            <a:endParaRPr lang="en-US" sz="1950" dirty="0"/>
          </a:p>
        </p:txBody>
      </p:sp>
      <p:sp>
        <p:nvSpPr>
          <p:cNvPr id="14" name="Text 12"/>
          <p:cNvSpPr/>
          <p:nvPr/>
        </p:nvSpPr>
        <p:spPr>
          <a:xfrm>
            <a:off x="7635597" y="3844409"/>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Develop an automated pipeline to extract joint angles and classify good vs bad form without manual intervention.</a:t>
            </a:r>
            <a:endParaRPr lang="en-US" sz="1550" dirty="0"/>
          </a:p>
        </p:txBody>
      </p:sp>
      <p:sp>
        <p:nvSpPr>
          <p:cNvPr id="15" name="Shape 13"/>
          <p:cNvSpPr/>
          <p:nvPr/>
        </p:nvSpPr>
        <p:spPr>
          <a:xfrm>
            <a:off x="793790" y="4899065"/>
            <a:ext cx="6422231" cy="2102048"/>
          </a:xfrm>
          <a:prstGeom prst="roundRect">
            <a:avLst>
              <a:gd name="adj" fmla="val 1416"/>
            </a:avLst>
          </a:prstGeom>
          <a:solidFill>
            <a:srgbClr val="E8E8E3"/>
          </a:solidFill>
          <a:ln w="22860">
            <a:solidFill>
              <a:srgbClr val="C8CAC1"/>
            </a:solidFill>
            <a:prstDash val="solid"/>
          </a:ln>
        </p:spPr>
      </p:sp>
      <p:sp>
        <p:nvSpPr>
          <p:cNvPr id="16" name="Shape 14"/>
          <p:cNvSpPr/>
          <p:nvPr/>
        </p:nvSpPr>
        <p:spPr>
          <a:xfrm>
            <a:off x="816650" y="4921925"/>
            <a:ext cx="6376511" cy="595313"/>
          </a:xfrm>
          <a:prstGeom prst="roundRect">
            <a:avLst>
              <a:gd name="adj" fmla="val 393"/>
            </a:avLst>
          </a:prstGeom>
          <a:solidFill>
            <a:srgbClr val="C8CAC1">
              <a:alpha val="50000"/>
            </a:srgbClr>
          </a:solidFill>
          <a:ln/>
        </p:spPr>
      </p:sp>
      <p:sp>
        <p:nvSpPr>
          <p:cNvPr id="17" name="Text 15"/>
          <p:cNvSpPr/>
          <p:nvPr/>
        </p:nvSpPr>
        <p:spPr>
          <a:xfrm>
            <a:off x="3856077" y="5033486"/>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3</a:t>
            </a:r>
            <a:endParaRPr lang="en-US" sz="2300" dirty="0"/>
          </a:p>
        </p:txBody>
      </p:sp>
      <p:sp>
        <p:nvSpPr>
          <p:cNvPr id="18" name="Text 16"/>
          <p:cNvSpPr/>
          <p:nvPr/>
        </p:nvSpPr>
        <p:spPr>
          <a:xfrm>
            <a:off x="1015008" y="5715595"/>
            <a:ext cx="5098375"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PROFESSIONAL OUTPUT GENERATION</a:t>
            </a:r>
            <a:endParaRPr lang="en-US" sz="1950" dirty="0"/>
          </a:p>
        </p:txBody>
      </p:sp>
      <p:sp>
        <p:nvSpPr>
          <p:cNvPr id="19" name="Text 17"/>
          <p:cNvSpPr/>
          <p:nvPr/>
        </p:nvSpPr>
        <p:spPr>
          <a:xfrm>
            <a:off x="1015008" y="6144816"/>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Produce clean, professionally formatted outputs — CSV and styled Excel — for downstream machine learning research.</a:t>
            </a:r>
            <a:endParaRPr lang="en-US" sz="1550" dirty="0"/>
          </a:p>
        </p:txBody>
      </p:sp>
      <p:sp>
        <p:nvSpPr>
          <p:cNvPr id="20" name="Shape 18"/>
          <p:cNvSpPr/>
          <p:nvPr/>
        </p:nvSpPr>
        <p:spPr>
          <a:xfrm>
            <a:off x="7414379" y="4899065"/>
            <a:ext cx="6422231" cy="2102048"/>
          </a:xfrm>
          <a:prstGeom prst="roundRect">
            <a:avLst>
              <a:gd name="adj" fmla="val 1416"/>
            </a:avLst>
          </a:prstGeom>
          <a:solidFill>
            <a:srgbClr val="E8E8E3"/>
          </a:solidFill>
          <a:ln w="22860">
            <a:solidFill>
              <a:srgbClr val="C8CAC1"/>
            </a:solidFill>
            <a:prstDash val="solid"/>
          </a:ln>
        </p:spPr>
      </p:sp>
      <p:sp>
        <p:nvSpPr>
          <p:cNvPr id="21" name="Shape 19"/>
          <p:cNvSpPr/>
          <p:nvPr/>
        </p:nvSpPr>
        <p:spPr>
          <a:xfrm>
            <a:off x="7437239" y="4921925"/>
            <a:ext cx="6376511" cy="595313"/>
          </a:xfrm>
          <a:prstGeom prst="roundRect">
            <a:avLst>
              <a:gd name="adj" fmla="val 393"/>
            </a:avLst>
          </a:prstGeom>
          <a:solidFill>
            <a:srgbClr val="C8CAC1">
              <a:alpha val="50000"/>
            </a:srgbClr>
          </a:solidFill>
          <a:ln/>
        </p:spPr>
      </p:sp>
      <p:sp>
        <p:nvSpPr>
          <p:cNvPr id="22" name="Text 20"/>
          <p:cNvSpPr/>
          <p:nvPr/>
        </p:nvSpPr>
        <p:spPr>
          <a:xfrm>
            <a:off x="10476667" y="5033486"/>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4</a:t>
            </a:r>
            <a:endParaRPr lang="en-US" sz="2300" dirty="0"/>
          </a:p>
        </p:txBody>
      </p:sp>
      <p:sp>
        <p:nvSpPr>
          <p:cNvPr id="23" name="Text 21"/>
          <p:cNvSpPr/>
          <p:nvPr/>
        </p:nvSpPr>
        <p:spPr>
          <a:xfrm>
            <a:off x="7635597" y="5715595"/>
            <a:ext cx="5826204"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REUSABLE FRAMEWORK FOR BIOVISION AI</a:t>
            </a:r>
            <a:endParaRPr lang="en-US" sz="1950" dirty="0"/>
          </a:p>
        </p:txBody>
      </p:sp>
      <p:sp>
        <p:nvSpPr>
          <p:cNvPr id="24" name="Text 22"/>
          <p:cNvSpPr/>
          <p:nvPr/>
        </p:nvSpPr>
        <p:spPr>
          <a:xfrm>
            <a:off x="7635597" y="6144816"/>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Deliver a reusable dataset and processing framework to support future research within the BioVision AI lab.</a:t>
            </a:r>
            <a:endParaRPr lang="en-US" sz="1550" dirty="0"/>
          </a:p>
        </p:txBody>
      </p:sp>
      <p:pic>
        <p:nvPicPr>
          <p:cNvPr id="25" name="Picture 24">
            <a:extLst>
              <a:ext uri="{FF2B5EF4-FFF2-40B4-BE49-F238E27FC236}">
                <a16:creationId xmlns:a16="http://schemas.microsoft.com/office/drawing/2014/main" id="{95275530-D8B5-19F5-431D-2D0505FFA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26" name="Footer Placeholder 3">
            <a:extLst>
              <a:ext uri="{FF2B5EF4-FFF2-40B4-BE49-F238E27FC236}">
                <a16:creationId xmlns:a16="http://schemas.microsoft.com/office/drawing/2014/main" id="{1A316E30-451B-E6B1-A393-5D6B9761F24E}"/>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612702"/>
            <a:ext cx="1541145" cy="373142"/>
          </a:xfrm>
          <a:prstGeom prst="roundRect">
            <a:avLst>
              <a:gd name="adj" fmla="val 6383"/>
            </a:avLst>
          </a:prstGeom>
          <a:solidFill>
            <a:srgbClr val="E7E7E4"/>
          </a:solidFill>
          <a:ln/>
        </p:spPr>
      </p:sp>
      <p:sp>
        <p:nvSpPr>
          <p:cNvPr id="3" name="Text 1"/>
          <p:cNvSpPr/>
          <p:nvPr/>
        </p:nvSpPr>
        <p:spPr>
          <a:xfrm>
            <a:off x="912852" y="1672233"/>
            <a:ext cx="1303020"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LITERATURE REVIEW</a:t>
            </a:r>
            <a:endParaRPr lang="en-US" sz="1250" dirty="0"/>
          </a:p>
        </p:txBody>
      </p:sp>
      <p:sp>
        <p:nvSpPr>
          <p:cNvPr id="4" name="Text 2"/>
          <p:cNvSpPr/>
          <p:nvPr/>
        </p:nvSpPr>
        <p:spPr>
          <a:xfrm>
            <a:off x="793790" y="2065139"/>
            <a:ext cx="5781556"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LITERATURE REVIEW</a:t>
            </a:r>
            <a:endParaRPr lang="en-US" sz="3900" dirty="0"/>
          </a:p>
        </p:txBody>
      </p:sp>
      <p:sp>
        <p:nvSpPr>
          <p:cNvPr id="5" name="Text 3"/>
          <p:cNvSpPr/>
          <p:nvPr/>
        </p:nvSpPr>
        <p:spPr>
          <a:xfrm>
            <a:off x="793790" y="3181231"/>
            <a:ext cx="5518904"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POSE ESTIMATION IN SPORTS &amp; FITNESS</a:t>
            </a:r>
            <a:endParaRPr lang="en-US" sz="1950" dirty="0"/>
          </a:p>
        </p:txBody>
      </p:sp>
      <p:sp>
        <p:nvSpPr>
          <p:cNvPr id="6" name="Text 4"/>
          <p:cNvSpPr/>
          <p:nvPr/>
        </p:nvSpPr>
        <p:spPr>
          <a:xfrm>
            <a:off x="793790" y="3689747"/>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MediaPipe Pose and OpenPose have been widely adopted for real-time human pose estimation. Applications span sports biomechanics, rehabilitation, and general fitness — demonstrating reliable 33-point landmark detection at near real-time speeds on consumer hardware.</a:t>
            </a:r>
            <a:endParaRPr lang="en-US" sz="1550" dirty="0"/>
          </a:p>
        </p:txBody>
      </p:sp>
      <p:sp>
        <p:nvSpPr>
          <p:cNvPr id="7" name="Text 5"/>
          <p:cNvSpPr/>
          <p:nvPr/>
        </p:nvSpPr>
        <p:spPr>
          <a:xfrm>
            <a:off x="793790" y="5138499"/>
            <a:ext cx="6279356" cy="140898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MediaPipe Pose: Google's lightweight, on-device solution (Lugaresi et al., 2020)</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OpenPose: Multi-person 2D pose estimation using CNNs (Cao et al., 2017)</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AlphaPose: High-accuracy single-person pose estimation (Fang et al., 2017)</a:t>
            </a:r>
            <a:endParaRPr lang="en-US" sz="1550" dirty="0"/>
          </a:p>
        </p:txBody>
      </p:sp>
      <p:sp>
        <p:nvSpPr>
          <p:cNvPr id="8" name="Shape 6"/>
          <p:cNvSpPr/>
          <p:nvPr/>
        </p:nvSpPr>
        <p:spPr>
          <a:xfrm>
            <a:off x="7421999" y="2982873"/>
            <a:ext cx="6565106" cy="3634026"/>
          </a:xfrm>
          <a:prstGeom prst="roundRect">
            <a:avLst>
              <a:gd name="adj" fmla="val 819"/>
            </a:avLst>
          </a:prstGeom>
          <a:solidFill>
            <a:srgbClr val="1E1E1A"/>
          </a:solidFill>
          <a:ln/>
        </p:spPr>
      </p:sp>
      <p:sp>
        <p:nvSpPr>
          <p:cNvPr id="9" name="Text 7"/>
          <p:cNvSpPr/>
          <p:nvPr/>
        </p:nvSpPr>
        <p:spPr>
          <a:xfrm>
            <a:off x="7620357" y="3181231"/>
            <a:ext cx="3982760"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Hubot Sans Bold" pitchFamily="34" charset="0"/>
                <a:ea typeface="Hubot Sans Bold" pitchFamily="34" charset="-122"/>
                <a:cs typeface="Hubot Sans Bold" pitchFamily="34" charset="-120"/>
              </a:rPr>
              <a:t>IDENTIFIED RESEARCH GAPS</a:t>
            </a:r>
            <a:endParaRPr lang="en-US" sz="1950" dirty="0"/>
          </a:p>
        </p:txBody>
      </p:sp>
      <p:sp>
        <p:nvSpPr>
          <p:cNvPr id="10" name="Text 8"/>
          <p:cNvSpPr/>
          <p:nvPr/>
        </p:nvSpPr>
        <p:spPr>
          <a:xfrm>
            <a:off x="7620357" y="3689747"/>
            <a:ext cx="6168390" cy="179593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FFFFFF"/>
                </a:solidFill>
                <a:latin typeface="Roboto Condensed" pitchFamily="34" charset="0"/>
                <a:ea typeface="Roboto Condensed" pitchFamily="34" charset="-122"/>
                <a:cs typeface="Roboto Condensed" pitchFamily="34" charset="-120"/>
              </a:rPr>
              <a:t>Most studies focus on </a:t>
            </a:r>
            <a:r>
              <a:rPr lang="en-US" sz="1550" b="1" dirty="0">
                <a:solidFill>
                  <a:srgbClr val="FFFFFF"/>
                </a:solidFill>
                <a:latin typeface="Roboto Condensed" pitchFamily="34" charset="0"/>
                <a:ea typeface="Roboto Condensed" pitchFamily="34" charset="-122"/>
                <a:cs typeface="Roboto Condensed" pitchFamily="34" charset="-120"/>
              </a:rPr>
              <a:t>real-time detection</a:t>
            </a:r>
            <a:r>
              <a:rPr lang="en-US" sz="1550" dirty="0">
                <a:solidFill>
                  <a:srgbClr val="FFFFFF"/>
                </a:solidFill>
                <a:latin typeface="Roboto Condensed" pitchFamily="34" charset="0"/>
                <a:ea typeface="Roboto Condensed" pitchFamily="34" charset="-122"/>
                <a:cs typeface="Roboto Condensed" pitchFamily="34" charset="-120"/>
              </a:rPr>
              <a:t> but rarely provide open datasets</a:t>
            </a:r>
            <a:endParaRPr lang="en-US" sz="1550" dirty="0"/>
          </a:p>
          <a:p>
            <a:pPr marL="342900" indent="-342900" algn="l">
              <a:lnSpc>
                <a:spcPts val="2500"/>
              </a:lnSpc>
              <a:buSzPct val="100000"/>
              <a:buChar char="•"/>
            </a:pPr>
            <a:r>
              <a:rPr lang="en-US" sz="1550" dirty="0">
                <a:solidFill>
                  <a:srgbClr val="FFFFFF"/>
                </a:solidFill>
                <a:latin typeface="Roboto Condensed" pitchFamily="34" charset="0"/>
                <a:ea typeface="Roboto Condensed" pitchFamily="34" charset="-122"/>
                <a:cs typeface="Roboto Condensed" pitchFamily="34" charset="-120"/>
              </a:rPr>
              <a:t>Existing datasets lack </a:t>
            </a:r>
            <a:r>
              <a:rPr lang="en-US" sz="1550" b="1" dirty="0">
                <a:solidFill>
                  <a:srgbClr val="FFFFFF"/>
                </a:solidFill>
                <a:latin typeface="Roboto Condensed" pitchFamily="34" charset="0"/>
                <a:ea typeface="Roboto Condensed" pitchFamily="34" charset="-122"/>
                <a:cs typeface="Roboto Condensed" pitchFamily="34" charset="-120"/>
              </a:rPr>
              <a:t>exercise-specific labels</a:t>
            </a:r>
            <a:r>
              <a:rPr lang="en-US" sz="1550" dirty="0">
                <a:solidFill>
                  <a:srgbClr val="FFFFFF"/>
                </a:solidFill>
                <a:latin typeface="Roboto Condensed" pitchFamily="34" charset="0"/>
                <a:ea typeface="Roboto Condensed" pitchFamily="34" charset="-122"/>
                <a:cs typeface="Roboto Condensed" pitchFamily="34" charset="-120"/>
              </a:rPr>
              <a:t> for form correction</a:t>
            </a:r>
            <a:endParaRPr lang="en-US" sz="1550" dirty="0"/>
          </a:p>
          <a:p>
            <a:pPr marL="342900" indent="-342900" algn="l">
              <a:lnSpc>
                <a:spcPts val="2500"/>
              </a:lnSpc>
              <a:buSzPct val="100000"/>
              <a:buChar char="•"/>
            </a:pPr>
            <a:r>
              <a:rPr lang="en-US" sz="1550" dirty="0">
                <a:solidFill>
                  <a:srgbClr val="FFFFFF"/>
                </a:solidFill>
                <a:latin typeface="Roboto Condensed" pitchFamily="34" charset="0"/>
                <a:ea typeface="Roboto Condensed" pitchFamily="34" charset="-122"/>
                <a:cs typeface="Roboto Condensed" pitchFamily="34" charset="-120"/>
              </a:rPr>
              <a:t>Limited work on </a:t>
            </a:r>
            <a:r>
              <a:rPr lang="en-US" sz="1550" b="1" dirty="0">
                <a:solidFill>
                  <a:srgbClr val="FFFFFF"/>
                </a:solidFill>
                <a:latin typeface="Roboto Condensed" pitchFamily="34" charset="0"/>
                <a:ea typeface="Roboto Condensed" pitchFamily="34" charset="-122"/>
                <a:cs typeface="Roboto Condensed" pitchFamily="34" charset="-120"/>
              </a:rPr>
              <a:t>joint angle-based classification</a:t>
            </a:r>
            <a:r>
              <a:rPr lang="en-US" sz="1550" dirty="0">
                <a:solidFill>
                  <a:srgbClr val="FFFFFF"/>
                </a:solidFill>
                <a:latin typeface="Roboto Condensed" pitchFamily="34" charset="0"/>
                <a:ea typeface="Roboto Condensed" pitchFamily="34" charset="-122"/>
                <a:cs typeface="Roboto Condensed" pitchFamily="34" charset="-120"/>
              </a:rPr>
              <a:t> for gym exercises</a:t>
            </a:r>
            <a:endParaRPr lang="en-US" sz="1550" dirty="0"/>
          </a:p>
          <a:p>
            <a:pPr marL="342900" indent="-342900" algn="l">
              <a:lnSpc>
                <a:spcPts val="2500"/>
              </a:lnSpc>
              <a:buSzPct val="100000"/>
              <a:buChar char="•"/>
            </a:pPr>
            <a:r>
              <a:rPr lang="en-US" sz="1550" dirty="0">
                <a:solidFill>
                  <a:srgbClr val="FFFFFF"/>
                </a:solidFill>
                <a:latin typeface="Roboto Condensed" pitchFamily="34" charset="0"/>
                <a:ea typeface="Roboto Condensed" pitchFamily="34" charset="-122"/>
                <a:cs typeface="Roboto Condensed" pitchFamily="34" charset="-120"/>
              </a:rPr>
              <a:t>No standardised pipeline for </a:t>
            </a:r>
            <a:r>
              <a:rPr lang="en-US" sz="1550" b="1" dirty="0">
                <a:solidFill>
                  <a:srgbClr val="FFFFFF"/>
                </a:solidFill>
                <a:latin typeface="Roboto Condensed" pitchFamily="34" charset="0"/>
                <a:ea typeface="Roboto Condensed" pitchFamily="34" charset="-122"/>
                <a:cs typeface="Roboto Condensed" pitchFamily="34" charset="-120"/>
              </a:rPr>
              <a:t>reproducible dataset generation</a:t>
            </a:r>
            <a:endParaRPr lang="en-US" sz="1550" dirty="0"/>
          </a:p>
        </p:txBody>
      </p:sp>
      <p:pic>
        <p:nvPicPr>
          <p:cNvPr id="11" name="Picture 10">
            <a:extLst>
              <a:ext uri="{FF2B5EF4-FFF2-40B4-BE49-F238E27FC236}">
                <a16:creationId xmlns:a16="http://schemas.microsoft.com/office/drawing/2014/main" id="{63AB253D-7945-4C9D-EC48-D6FE65E227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2" name="Footer Placeholder 3">
            <a:extLst>
              <a:ext uri="{FF2B5EF4-FFF2-40B4-BE49-F238E27FC236}">
                <a16:creationId xmlns:a16="http://schemas.microsoft.com/office/drawing/2014/main" id="{8C079D5E-817C-6A30-2EE0-901972705CBD}"/>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081802" y="461724"/>
            <a:ext cx="990005" cy="276463"/>
          </a:xfrm>
          <a:prstGeom prst="roundRect">
            <a:avLst>
              <a:gd name="adj" fmla="val 6862"/>
            </a:avLst>
          </a:prstGeom>
          <a:solidFill>
            <a:srgbClr val="E7E7E4"/>
          </a:solidFill>
          <a:ln/>
        </p:spPr>
      </p:sp>
      <p:sp>
        <p:nvSpPr>
          <p:cNvPr id="3" name="Text 1"/>
          <p:cNvSpPr/>
          <p:nvPr/>
        </p:nvSpPr>
        <p:spPr>
          <a:xfrm>
            <a:off x="1965132" y="480939"/>
            <a:ext cx="800457" cy="181689"/>
          </a:xfrm>
          <a:prstGeom prst="rect">
            <a:avLst/>
          </a:prstGeom>
          <a:noFill/>
          <a:ln/>
        </p:spPr>
        <p:txBody>
          <a:bodyPr wrap="none" lIns="0" tIns="0" rIns="0" bIns="0" rtlCol="0" anchor="t"/>
          <a:lstStyle/>
          <a:p>
            <a:pPr marL="0" indent="0" algn="l">
              <a:lnSpc>
                <a:spcPts val="1400"/>
              </a:lnSpc>
              <a:buNone/>
            </a:pPr>
            <a:r>
              <a:rPr lang="en-US" sz="950" dirty="0">
                <a:solidFill>
                  <a:srgbClr val="55575A"/>
                </a:solidFill>
                <a:latin typeface="Roboto Condensed" pitchFamily="34" charset="0"/>
                <a:ea typeface="Roboto Condensed" pitchFamily="34" charset="-122"/>
                <a:cs typeface="Roboto Condensed" pitchFamily="34" charset="-120"/>
              </a:rPr>
              <a:t>METHODOLOGY</a:t>
            </a:r>
            <a:endParaRPr lang="en-US" sz="950" dirty="0"/>
          </a:p>
        </p:txBody>
      </p:sp>
      <p:sp>
        <p:nvSpPr>
          <p:cNvPr id="4" name="Text 2"/>
          <p:cNvSpPr/>
          <p:nvPr/>
        </p:nvSpPr>
        <p:spPr>
          <a:xfrm>
            <a:off x="1916345" y="776649"/>
            <a:ext cx="5707499" cy="494109"/>
          </a:xfrm>
          <a:prstGeom prst="rect">
            <a:avLst/>
          </a:prstGeom>
          <a:noFill/>
          <a:ln/>
        </p:spPr>
        <p:txBody>
          <a:bodyPr wrap="none" lIns="0" tIns="0" rIns="0" bIns="0" rtlCol="0" anchor="t"/>
          <a:lstStyle/>
          <a:p>
            <a:pPr marL="0" indent="0" algn="l">
              <a:lnSpc>
                <a:spcPts val="3850"/>
              </a:lnSpc>
              <a:buNone/>
            </a:pPr>
            <a:r>
              <a:rPr lang="en-US" sz="3100" b="1" dirty="0">
                <a:solidFill>
                  <a:srgbClr val="0C0D0F"/>
                </a:solidFill>
                <a:latin typeface="Hubot Sans Bold" pitchFamily="34" charset="0"/>
                <a:ea typeface="Hubot Sans Bold" pitchFamily="34" charset="-122"/>
                <a:cs typeface="Hubot Sans Bold" pitchFamily="34" charset="-120"/>
              </a:rPr>
              <a:t>RESEARCH METHODOLOGY</a:t>
            </a:r>
            <a:endParaRPr lang="en-US" sz="3100" dirty="0"/>
          </a:p>
        </p:txBody>
      </p:sp>
      <p:sp>
        <p:nvSpPr>
          <p:cNvPr id="5" name="Text 3"/>
          <p:cNvSpPr/>
          <p:nvPr/>
        </p:nvSpPr>
        <p:spPr>
          <a:xfrm>
            <a:off x="1081802" y="1471493"/>
            <a:ext cx="12466796" cy="454343"/>
          </a:xfrm>
          <a:prstGeom prst="rect">
            <a:avLst/>
          </a:prstGeom>
          <a:noFill/>
          <a:ln/>
        </p:spPr>
        <p:txBody>
          <a:bodyPr wrap="square" lIns="0" tIns="0" rIns="0" bIns="0" rtlCol="0" anchor="t"/>
          <a:lstStyle/>
          <a:p>
            <a:pPr marL="0" indent="0" algn="l">
              <a:lnSpc>
                <a:spcPts val="1750"/>
              </a:lnSpc>
              <a:buNone/>
            </a:pPr>
            <a:r>
              <a:rPr lang="en-US" sz="1200" dirty="0">
                <a:solidFill>
                  <a:srgbClr val="55575A"/>
                </a:solidFill>
                <a:latin typeface="Roboto Condensed" pitchFamily="34" charset="0"/>
                <a:ea typeface="Roboto Condensed" pitchFamily="34" charset="-122"/>
                <a:cs typeface="Roboto Condensed" pitchFamily="34" charset="-120"/>
              </a:rPr>
              <a:t>This research adopts a </a:t>
            </a:r>
            <a:r>
              <a:rPr lang="en-US" sz="1200" b="1" dirty="0">
                <a:solidFill>
                  <a:srgbClr val="55575A"/>
                </a:solidFill>
                <a:latin typeface="Roboto Condensed" pitchFamily="34" charset="0"/>
                <a:ea typeface="Roboto Condensed" pitchFamily="34" charset="-122"/>
                <a:cs typeface="Roboto Condensed" pitchFamily="34" charset="-120"/>
              </a:rPr>
              <a:t>quantitative approach</a:t>
            </a:r>
            <a:r>
              <a:rPr lang="en-US" sz="1200" dirty="0">
                <a:solidFill>
                  <a:srgbClr val="55575A"/>
                </a:solidFill>
                <a:latin typeface="Roboto Condensed" pitchFamily="34" charset="0"/>
                <a:ea typeface="Roboto Condensed" pitchFamily="34" charset="-122"/>
                <a:cs typeface="Roboto Condensed" pitchFamily="34" charset="-120"/>
              </a:rPr>
              <a:t> combined with computer vision techniques. The study design centres on a video processing pipeline that transforms raw exercise footage into structured, labelled data suitable for machine learning applications.</a:t>
            </a:r>
            <a:endParaRPr lang="en-US" sz="1200" dirty="0"/>
          </a:p>
        </p:txBody>
      </p:sp>
      <p:pic>
        <p:nvPicPr>
          <p:cNvPr id="6" name="Image 0" descr="preencoded.png"/>
          <p:cNvPicPr>
            <a:picLocks noChangeAspect="1"/>
          </p:cNvPicPr>
          <p:nvPr/>
        </p:nvPicPr>
        <p:blipFill>
          <a:blip r:embed="rId3"/>
          <a:stretch>
            <a:fillRect/>
          </a:stretch>
        </p:blipFill>
        <p:spPr>
          <a:xfrm>
            <a:off x="1133118" y="2067401"/>
            <a:ext cx="12364045" cy="5331619"/>
          </a:xfrm>
          <a:prstGeom prst="rect">
            <a:avLst/>
          </a:prstGeom>
        </p:spPr>
      </p:pic>
      <p:sp>
        <p:nvSpPr>
          <p:cNvPr id="7" name="Text 4"/>
          <p:cNvSpPr/>
          <p:nvPr/>
        </p:nvSpPr>
        <p:spPr>
          <a:xfrm>
            <a:off x="1965132" y="6387945"/>
            <a:ext cx="2804963" cy="35062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Hubot Sans Bold" pitchFamily="34" charset="0"/>
                <a:ea typeface="Hubot Sans Bold" pitchFamily="34" charset="-122"/>
                <a:cs typeface="Hubot Sans Bold" pitchFamily="34" charset="-120"/>
              </a:rPr>
              <a:t>DATASET OUTPUT</a:t>
            </a:r>
            <a:endParaRPr lang="en-US" sz="2200" dirty="0"/>
          </a:p>
        </p:txBody>
      </p:sp>
      <p:sp>
        <p:nvSpPr>
          <p:cNvPr id="8" name="Text 5"/>
          <p:cNvSpPr/>
          <p:nvPr/>
        </p:nvSpPr>
        <p:spPr>
          <a:xfrm>
            <a:off x="1965132" y="5153762"/>
            <a:ext cx="3282391" cy="35062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Hubot Sans Bold" pitchFamily="34" charset="0"/>
                <a:ea typeface="Hubot Sans Bold" pitchFamily="34" charset="-122"/>
                <a:cs typeface="Hubot Sans Bold" pitchFamily="34" charset="-120"/>
              </a:rPr>
              <a:t>ANGLE CALCULATION</a:t>
            </a:r>
            <a:endParaRPr lang="en-US" sz="2200" dirty="0"/>
          </a:p>
        </p:txBody>
      </p:sp>
      <p:sp>
        <p:nvSpPr>
          <p:cNvPr id="9" name="Text 6"/>
          <p:cNvSpPr/>
          <p:nvPr/>
        </p:nvSpPr>
        <p:spPr>
          <a:xfrm>
            <a:off x="1965132" y="3932045"/>
            <a:ext cx="2804963" cy="35062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Hubot Sans Bold" pitchFamily="34" charset="0"/>
                <a:ea typeface="Hubot Sans Bold" pitchFamily="34" charset="-122"/>
                <a:cs typeface="Hubot Sans Bold" pitchFamily="34" charset="-120"/>
              </a:rPr>
              <a:t>POSE DETECTION</a:t>
            </a:r>
            <a:endParaRPr lang="en-US" sz="2200" dirty="0"/>
          </a:p>
        </p:txBody>
      </p:sp>
      <p:sp>
        <p:nvSpPr>
          <p:cNvPr id="10" name="Text 7"/>
          <p:cNvSpPr/>
          <p:nvPr/>
        </p:nvSpPr>
        <p:spPr>
          <a:xfrm>
            <a:off x="1965132" y="2697861"/>
            <a:ext cx="3058968" cy="35062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Hubot Sans Bold" pitchFamily="34" charset="0"/>
                <a:ea typeface="Hubot Sans Bold" pitchFamily="34" charset="-122"/>
                <a:cs typeface="Hubot Sans Bold" pitchFamily="34" charset="-120"/>
              </a:rPr>
              <a:t>VIDEO COLLECTION</a:t>
            </a:r>
            <a:endParaRPr lang="en-US" sz="2200" dirty="0"/>
          </a:p>
        </p:txBody>
      </p:sp>
      <p:sp>
        <p:nvSpPr>
          <p:cNvPr id="11" name="Text 8"/>
          <p:cNvSpPr/>
          <p:nvPr/>
        </p:nvSpPr>
        <p:spPr>
          <a:xfrm>
            <a:off x="1081802" y="7540585"/>
            <a:ext cx="12466796" cy="227171"/>
          </a:xfrm>
          <a:prstGeom prst="rect">
            <a:avLst/>
          </a:prstGeom>
          <a:noFill/>
          <a:ln/>
        </p:spPr>
        <p:txBody>
          <a:bodyPr wrap="none" lIns="0" tIns="0" rIns="0" bIns="0" rtlCol="0" anchor="t"/>
          <a:lstStyle/>
          <a:p>
            <a:pPr marL="0" indent="0" algn="l">
              <a:lnSpc>
                <a:spcPts val="1750"/>
              </a:lnSpc>
              <a:buNone/>
            </a:pPr>
            <a:r>
              <a:rPr lang="en-US" sz="1200" dirty="0">
                <a:solidFill>
                  <a:srgbClr val="55575A"/>
                </a:solidFill>
                <a:latin typeface="Roboto Condensed" pitchFamily="34" charset="0"/>
                <a:ea typeface="Roboto Condensed" pitchFamily="34" charset="-122"/>
                <a:cs typeface="Roboto Condensed" pitchFamily="34" charset="-120"/>
              </a:rPr>
              <a:t>The pipeline ensures end-to-end automation — from raw video input to professionally formatted, analysis-ready dataset output — with modular components that support reproducibility and extension.</a:t>
            </a:r>
            <a:endParaRPr lang="en-US" sz="1200" dirty="0"/>
          </a:p>
        </p:txBody>
      </p:sp>
      <p:pic>
        <p:nvPicPr>
          <p:cNvPr id="12" name="Picture 11">
            <a:extLst>
              <a:ext uri="{FF2B5EF4-FFF2-40B4-BE49-F238E27FC236}">
                <a16:creationId xmlns:a16="http://schemas.microsoft.com/office/drawing/2014/main" id="{B974663E-01C1-608C-F7A6-47A775B022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3" name="Footer Placeholder 3">
            <a:extLst>
              <a:ext uri="{FF2B5EF4-FFF2-40B4-BE49-F238E27FC236}">
                <a16:creationId xmlns:a16="http://schemas.microsoft.com/office/drawing/2014/main" id="{EAA51B0D-29D1-E91C-4FF9-EA80351488F2}"/>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1826062"/>
            <a:ext cx="1432084" cy="373142"/>
          </a:xfrm>
          <a:prstGeom prst="roundRect">
            <a:avLst>
              <a:gd name="adj" fmla="val 6383"/>
            </a:avLst>
          </a:prstGeom>
          <a:solidFill>
            <a:srgbClr val="E7E7E4"/>
          </a:solidFill>
          <a:ln/>
        </p:spPr>
      </p:sp>
      <p:sp>
        <p:nvSpPr>
          <p:cNvPr id="3" name="Text 1"/>
          <p:cNvSpPr/>
          <p:nvPr/>
        </p:nvSpPr>
        <p:spPr>
          <a:xfrm>
            <a:off x="912852" y="1885593"/>
            <a:ext cx="1193959"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DATA COLLECTION</a:t>
            </a:r>
            <a:endParaRPr lang="en-US" sz="1250" dirty="0"/>
          </a:p>
        </p:txBody>
      </p:sp>
      <p:sp>
        <p:nvSpPr>
          <p:cNvPr id="4" name="Text 2"/>
          <p:cNvSpPr/>
          <p:nvPr/>
        </p:nvSpPr>
        <p:spPr>
          <a:xfrm>
            <a:off x="793790" y="2278499"/>
            <a:ext cx="4994672"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DATA COLLECTION</a:t>
            </a:r>
            <a:endParaRPr lang="en-US" sz="3900" dirty="0"/>
          </a:p>
        </p:txBody>
      </p:sp>
      <p:sp>
        <p:nvSpPr>
          <p:cNvPr id="5" name="Text 3"/>
          <p:cNvSpPr/>
          <p:nvPr/>
        </p:nvSpPr>
        <p:spPr>
          <a:xfrm>
            <a:off x="793790" y="3394591"/>
            <a:ext cx="3154204"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RECORDING PROTOCOL</a:t>
            </a:r>
            <a:endParaRPr lang="en-US" sz="1950" dirty="0"/>
          </a:p>
        </p:txBody>
      </p:sp>
      <p:sp>
        <p:nvSpPr>
          <p:cNvPr id="6" name="Text 4"/>
          <p:cNvSpPr/>
          <p:nvPr/>
        </p:nvSpPr>
        <p:spPr>
          <a:xfrm>
            <a:off x="793790" y="3903107"/>
            <a:ext cx="6279356" cy="12777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Videos were recorded for six common gym exercises: push-up, plank, bicep curl, squat, and deadlift. Each exercise was performed in both correct ("Good") and incorrect ("Bad") form, with multiple repetitions per session. Videos were organised into dedicated </a:t>
            </a:r>
            <a:r>
              <a:rPr lang="en-US" sz="1550" dirty="0">
                <a:solidFill>
                  <a:srgbClr val="55575A"/>
                </a:solidFill>
                <a:highlight>
                  <a:srgbClr val="DBDBD6"/>
                </a:highlight>
                <a:latin typeface="Consolas" pitchFamily="34" charset="0"/>
                <a:ea typeface="Consolas" pitchFamily="34" charset="-122"/>
                <a:cs typeface="Consolas" pitchFamily="34" charset="-120"/>
              </a:rPr>
              <a:t>good/</a:t>
            </a:r>
            <a:r>
              <a:rPr lang="en-US" sz="1550" dirty="0">
                <a:solidFill>
                  <a:srgbClr val="55575A"/>
                </a:solidFill>
                <a:latin typeface="Roboto Condensed" pitchFamily="34" charset="0"/>
                <a:ea typeface="Roboto Condensed" pitchFamily="34" charset="-122"/>
                <a:cs typeface="Roboto Condensed" pitchFamily="34" charset="-120"/>
              </a:rPr>
              <a:t> and </a:t>
            </a:r>
            <a:r>
              <a:rPr lang="en-US" sz="1550" dirty="0">
                <a:solidFill>
                  <a:srgbClr val="55575A"/>
                </a:solidFill>
                <a:highlight>
                  <a:srgbClr val="DBDBD6"/>
                </a:highlight>
                <a:latin typeface="Consolas" pitchFamily="34" charset="0"/>
                <a:ea typeface="Consolas" pitchFamily="34" charset="-122"/>
                <a:cs typeface="Consolas" pitchFamily="34" charset="-120"/>
              </a:rPr>
              <a:t>bad/</a:t>
            </a:r>
            <a:r>
              <a:rPr lang="en-US" sz="1550" dirty="0">
                <a:solidFill>
                  <a:srgbClr val="55575A"/>
                </a:solidFill>
                <a:latin typeface="Roboto Condensed" pitchFamily="34" charset="0"/>
                <a:ea typeface="Roboto Condensed" pitchFamily="34" charset="-122"/>
                <a:cs typeface="Roboto Condensed" pitchFamily="34" charset="-120"/>
              </a:rPr>
              <a:t> folder structures per exercise type.</a:t>
            </a:r>
            <a:endParaRPr lang="en-US" sz="1550" dirty="0"/>
          </a:p>
        </p:txBody>
      </p:sp>
      <p:sp>
        <p:nvSpPr>
          <p:cNvPr id="7" name="Text 5"/>
          <p:cNvSpPr/>
          <p:nvPr/>
        </p:nvSpPr>
        <p:spPr>
          <a:xfrm>
            <a:off x="7564874" y="3394591"/>
            <a:ext cx="4032171"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CHALLENGES &amp; MITIGATIONS</a:t>
            </a:r>
            <a:endParaRPr lang="en-US" sz="1950" dirty="0"/>
          </a:p>
        </p:txBody>
      </p:sp>
      <p:sp>
        <p:nvSpPr>
          <p:cNvPr id="8" name="Text 6"/>
          <p:cNvSpPr/>
          <p:nvPr/>
        </p:nvSpPr>
        <p:spPr>
          <a:xfrm>
            <a:off x="7564874" y="3903107"/>
            <a:ext cx="6279356" cy="243101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Variable lighting:</a:t>
            </a:r>
            <a:r>
              <a:rPr lang="en-US" sz="1550" dirty="0">
                <a:solidFill>
                  <a:srgbClr val="55575A"/>
                </a:solidFill>
                <a:latin typeface="Roboto Condensed" pitchFamily="34" charset="0"/>
                <a:ea typeface="Roboto Condensed" pitchFamily="34" charset="-122"/>
                <a:cs typeface="Roboto Condensed" pitchFamily="34" charset="-120"/>
              </a:rPr>
              <a:t> Controlled indoor environment with consistent artificial lighting</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Body type diversity:</a:t>
            </a:r>
            <a:r>
              <a:rPr lang="en-US" sz="1550" dirty="0">
                <a:solidFill>
                  <a:srgbClr val="55575A"/>
                </a:solidFill>
                <a:latin typeface="Roboto Condensed" pitchFamily="34" charset="0"/>
                <a:ea typeface="Roboto Condensed" pitchFamily="34" charset="-122"/>
                <a:cs typeface="Roboto Condensed" pitchFamily="34" charset="-120"/>
              </a:rPr>
              <a:t> Multiple subjects with varying proportions included</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Landmark visibility:</a:t>
            </a:r>
            <a:r>
              <a:rPr lang="en-US" sz="1550" dirty="0">
                <a:solidFill>
                  <a:srgbClr val="55575A"/>
                </a:solidFill>
                <a:latin typeface="Roboto Condensed" pitchFamily="34" charset="0"/>
                <a:ea typeface="Roboto Condensed" pitchFamily="34" charset="-122"/>
                <a:cs typeface="Roboto Condensed" pitchFamily="34" charset="-120"/>
              </a:rPr>
              <a:t> Visibility threshold filtering (visibility score ≥ 0.5) applied</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Static frames:</a:t>
            </a:r>
            <a:r>
              <a:rPr lang="en-US" sz="1550" dirty="0">
                <a:solidFill>
                  <a:srgbClr val="55575A"/>
                </a:solidFill>
                <a:latin typeface="Roboto Condensed" pitchFamily="34" charset="0"/>
                <a:ea typeface="Roboto Condensed" pitchFamily="34" charset="-122"/>
                <a:cs typeface="Roboto Condensed" pitchFamily="34" charset="-120"/>
              </a:rPr>
              <a:t> Motion detection logic removes frames with negligible landmark displacement</a:t>
            </a:r>
            <a:endParaRPr lang="en-US" sz="1550" dirty="0"/>
          </a:p>
        </p:txBody>
      </p:sp>
      <p:pic>
        <p:nvPicPr>
          <p:cNvPr id="9" name="Picture 8">
            <a:extLst>
              <a:ext uri="{FF2B5EF4-FFF2-40B4-BE49-F238E27FC236}">
                <a16:creationId xmlns:a16="http://schemas.microsoft.com/office/drawing/2014/main" id="{ACBB5EF0-25DF-C21A-A615-B95992E48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0" name="Footer Placeholder 3">
            <a:extLst>
              <a:ext uri="{FF2B5EF4-FFF2-40B4-BE49-F238E27FC236}">
                <a16:creationId xmlns:a16="http://schemas.microsoft.com/office/drawing/2014/main" id="{D695320D-FAA2-72E8-CF57-DC45108E7C96}"/>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736765"/>
            <a:ext cx="1239203" cy="373142"/>
          </a:xfrm>
          <a:prstGeom prst="roundRect">
            <a:avLst>
              <a:gd name="adj" fmla="val 6383"/>
            </a:avLst>
          </a:prstGeom>
          <a:solidFill>
            <a:srgbClr val="E7E7E4"/>
          </a:solidFill>
          <a:ln/>
        </p:spPr>
      </p:sp>
      <p:sp>
        <p:nvSpPr>
          <p:cNvPr id="3" name="Text 1"/>
          <p:cNvSpPr/>
          <p:nvPr/>
        </p:nvSpPr>
        <p:spPr>
          <a:xfrm>
            <a:off x="912852" y="1796296"/>
            <a:ext cx="1001078"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DATA ANALYSIS</a:t>
            </a:r>
            <a:endParaRPr lang="en-US" sz="1250" dirty="0"/>
          </a:p>
        </p:txBody>
      </p:sp>
      <p:sp>
        <p:nvSpPr>
          <p:cNvPr id="4" name="Text 2"/>
          <p:cNvSpPr/>
          <p:nvPr/>
        </p:nvSpPr>
        <p:spPr>
          <a:xfrm>
            <a:off x="793790" y="2189202"/>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DATA ANALYSIS</a:t>
            </a:r>
            <a:endParaRPr lang="en-US" sz="3900" dirty="0"/>
          </a:p>
        </p:txBody>
      </p:sp>
      <p:sp>
        <p:nvSpPr>
          <p:cNvPr id="5" name="Text 3"/>
          <p:cNvSpPr/>
          <p:nvPr/>
        </p:nvSpPr>
        <p:spPr>
          <a:xfrm>
            <a:off x="793790" y="3305294"/>
            <a:ext cx="2757368"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ANALYSIS METHODS</a:t>
            </a:r>
            <a:endParaRPr lang="en-US" sz="1950" dirty="0"/>
          </a:p>
        </p:txBody>
      </p:sp>
      <p:sp>
        <p:nvSpPr>
          <p:cNvPr id="6" name="Text 4"/>
          <p:cNvSpPr/>
          <p:nvPr/>
        </p:nvSpPr>
        <p:spPr>
          <a:xfrm>
            <a:off x="793790" y="3813810"/>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Frame-by-frame pose landmark extraction was performed using MediaPipe Pose. Four key joint angles were computed using trigonometric vector calculations between landmark triplets:</a:t>
            </a:r>
            <a:endParaRPr lang="en-US" sz="1550" dirty="0"/>
          </a:p>
        </p:txBody>
      </p:sp>
      <p:sp>
        <p:nvSpPr>
          <p:cNvPr id="7" name="Text 5"/>
          <p:cNvSpPr/>
          <p:nvPr/>
        </p:nvSpPr>
        <p:spPr>
          <a:xfrm>
            <a:off x="793790" y="4945023"/>
            <a:ext cx="6279356" cy="147839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Elbow angle</a:t>
            </a:r>
            <a:r>
              <a:rPr lang="en-US" sz="1550" dirty="0">
                <a:solidFill>
                  <a:srgbClr val="55575A"/>
                </a:solidFill>
                <a:latin typeface="Roboto Condensed" pitchFamily="34" charset="0"/>
                <a:ea typeface="Roboto Condensed" pitchFamily="34" charset="-122"/>
                <a:cs typeface="Roboto Condensed" pitchFamily="34" charset="-120"/>
              </a:rPr>
              <a:t> — Shoulder–Elbow–Wrist</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Shoulder angle</a:t>
            </a:r>
            <a:r>
              <a:rPr lang="en-US" sz="1550" dirty="0">
                <a:solidFill>
                  <a:srgbClr val="55575A"/>
                </a:solidFill>
                <a:latin typeface="Roboto Condensed" pitchFamily="34" charset="0"/>
                <a:ea typeface="Roboto Condensed" pitchFamily="34" charset="-122"/>
                <a:cs typeface="Roboto Condensed" pitchFamily="34" charset="-120"/>
              </a:rPr>
              <a:t> — Hip–Shoulder–Elbow</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Hip angle</a:t>
            </a:r>
            <a:r>
              <a:rPr lang="en-US" sz="1550" dirty="0">
                <a:solidFill>
                  <a:srgbClr val="55575A"/>
                </a:solidFill>
                <a:latin typeface="Roboto Condensed" pitchFamily="34" charset="0"/>
                <a:ea typeface="Roboto Condensed" pitchFamily="34" charset="-122"/>
                <a:cs typeface="Roboto Condensed" pitchFamily="34" charset="-120"/>
              </a:rPr>
              <a:t> — Shoulder–Hip–Knee</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Knee angle</a:t>
            </a:r>
            <a:r>
              <a:rPr lang="en-US" sz="1550" dirty="0">
                <a:solidFill>
                  <a:srgbClr val="55575A"/>
                </a:solidFill>
                <a:latin typeface="Roboto Condensed" pitchFamily="34" charset="0"/>
                <a:ea typeface="Roboto Condensed" pitchFamily="34" charset="-122"/>
                <a:cs typeface="Roboto Condensed" pitchFamily="34" charset="-120"/>
              </a:rPr>
              <a:t> — Hip–Knee–Ankle</a:t>
            </a:r>
            <a:endParaRPr lang="en-US" sz="1550" dirty="0"/>
          </a:p>
        </p:txBody>
      </p:sp>
      <p:sp>
        <p:nvSpPr>
          <p:cNvPr id="8" name="Text 6"/>
          <p:cNvSpPr/>
          <p:nvPr/>
        </p:nvSpPr>
        <p:spPr>
          <a:xfrm>
            <a:off x="7564874" y="3305294"/>
            <a:ext cx="3803213"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KEY ANALYTICAL FINDINGS</a:t>
            </a:r>
            <a:endParaRPr lang="en-US" sz="1950" dirty="0"/>
          </a:p>
        </p:txBody>
      </p:sp>
      <p:sp>
        <p:nvSpPr>
          <p:cNvPr id="9" name="Text 7"/>
          <p:cNvSpPr/>
          <p:nvPr/>
        </p:nvSpPr>
        <p:spPr>
          <a:xfrm>
            <a:off x="7564874" y="3813810"/>
            <a:ext cx="6279356" cy="2431018"/>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Statistically significant differences observed in joint angles between Good and Bad form across all exercises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Elbow and knee angles showed the highest discriminative power for push-ups and squats respectively</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Hip angle variation was most pronounced in deadlift form classification</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Visibility and motion filtering reduced noise by approximately 18% of raw frames</a:t>
            </a:r>
            <a:endParaRPr lang="en-US" sz="1550" dirty="0"/>
          </a:p>
        </p:txBody>
      </p:sp>
      <p:pic>
        <p:nvPicPr>
          <p:cNvPr id="10" name="Picture 9">
            <a:extLst>
              <a:ext uri="{FF2B5EF4-FFF2-40B4-BE49-F238E27FC236}">
                <a16:creationId xmlns:a16="http://schemas.microsoft.com/office/drawing/2014/main" id="{A34B9619-63C0-79FA-4492-D3067F7B1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1" name="Footer Placeholder 3">
            <a:extLst>
              <a:ext uri="{FF2B5EF4-FFF2-40B4-BE49-F238E27FC236}">
                <a16:creationId xmlns:a16="http://schemas.microsoft.com/office/drawing/2014/main" id="{A09BF1A4-A530-C34A-6FEA-11B2B4029E7C}"/>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581858"/>
            <a:ext cx="1408986" cy="373142"/>
          </a:xfrm>
          <a:prstGeom prst="roundRect">
            <a:avLst>
              <a:gd name="adj" fmla="val 6383"/>
            </a:avLst>
          </a:prstGeom>
          <a:solidFill>
            <a:srgbClr val="E7E7E4"/>
          </a:solidFill>
          <a:ln/>
        </p:spPr>
      </p:sp>
      <p:sp>
        <p:nvSpPr>
          <p:cNvPr id="3" name="Text 1"/>
          <p:cNvSpPr/>
          <p:nvPr/>
        </p:nvSpPr>
        <p:spPr>
          <a:xfrm>
            <a:off x="1638387" y="646675"/>
            <a:ext cx="1170861"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IMPLEMENTATION</a:t>
            </a:r>
            <a:endParaRPr lang="en-US" sz="1250" dirty="0"/>
          </a:p>
        </p:txBody>
      </p:sp>
      <p:sp>
        <p:nvSpPr>
          <p:cNvPr id="4" name="Text 2"/>
          <p:cNvSpPr/>
          <p:nvPr/>
        </p:nvSpPr>
        <p:spPr>
          <a:xfrm>
            <a:off x="1638387" y="1055773"/>
            <a:ext cx="5019437"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IMPLEMENTATION</a:t>
            </a:r>
            <a:endParaRPr lang="en-US" sz="3900" dirty="0"/>
          </a:p>
        </p:txBody>
      </p:sp>
      <p:sp>
        <p:nvSpPr>
          <p:cNvPr id="5" name="Text 3"/>
          <p:cNvSpPr/>
          <p:nvPr/>
        </p:nvSpPr>
        <p:spPr>
          <a:xfrm>
            <a:off x="793790" y="195203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The complete pipeline was implemented in Python using MediaPipe Pose, OpenCV, and pandas with XlsxWriter for styled Excel output. The codebase is modular, with separate functions for angle calculation, visibility checking, and static frame removal.</a:t>
            </a:r>
            <a:endParaRPr lang="en-US" sz="1550" dirty="0"/>
          </a:p>
        </p:txBody>
      </p:sp>
      <p:sp>
        <p:nvSpPr>
          <p:cNvPr id="6" name="Text 4"/>
          <p:cNvSpPr/>
          <p:nvPr/>
        </p:nvSpPr>
        <p:spPr>
          <a:xfrm>
            <a:off x="793790" y="3008709"/>
            <a:ext cx="5237917"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CORE IMPLEMENTATION COMPONENTS</a:t>
            </a:r>
            <a:endParaRPr lang="en-US" sz="1950" dirty="0"/>
          </a:p>
        </p:txBody>
      </p:sp>
      <p:sp>
        <p:nvSpPr>
          <p:cNvPr id="7" name="Text 5"/>
          <p:cNvSpPr/>
          <p:nvPr/>
        </p:nvSpPr>
        <p:spPr>
          <a:xfrm>
            <a:off x="793790" y="3517225"/>
            <a:ext cx="6279356" cy="2182892"/>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MediaPipe Pose:</a:t>
            </a:r>
            <a:r>
              <a:rPr lang="en-US" sz="1550" dirty="0">
                <a:solidFill>
                  <a:srgbClr val="55575A"/>
                </a:solidFill>
                <a:latin typeface="Roboto Condensed" pitchFamily="34" charset="0"/>
                <a:ea typeface="Roboto Condensed" pitchFamily="34" charset="-122"/>
                <a:cs typeface="Roboto Condensed" pitchFamily="34" charset="-120"/>
              </a:rPr>
              <a:t> 33 landmark detection per frame</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Angle calculation:</a:t>
            </a:r>
            <a:r>
              <a:rPr lang="en-US" sz="1550" dirty="0">
                <a:solidFill>
                  <a:srgbClr val="55575A"/>
                </a:solidFill>
                <a:latin typeface="Roboto Condensed" pitchFamily="34" charset="0"/>
                <a:ea typeface="Roboto Condensed" pitchFamily="34" charset="-122"/>
                <a:cs typeface="Roboto Condensed" pitchFamily="34" charset="-120"/>
              </a:rPr>
              <a:t> Trigonometric function using NumPy arctan2</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Visibility filter:</a:t>
            </a:r>
            <a:r>
              <a:rPr lang="en-US" sz="1550" dirty="0">
                <a:solidFill>
                  <a:srgbClr val="55575A"/>
                </a:solidFill>
                <a:latin typeface="Roboto Condensed" pitchFamily="34" charset="0"/>
                <a:ea typeface="Roboto Condensed" pitchFamily="34" charset="-122"/>
                <a:cs typeface="Roboto Condensed" pitchFamily="34" charset="-120"/>
              </a:rPr>
              <a:t> Removes frames where landmark visibility &lt; 0.5</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Static frame removal:</a:t>
            </a:r>
            <a:r>
              <a:rPr lang="en-US" sz="1550" dirty="0">
                <a:solidFill>
                  <a:srgbClr val="55575A"/>
                </a:solidFill>
                <a:latin typeface="Roboto Condensed" pitchFamily="34" charset="0"/>
                <a:ea typeface="Roboto Condensed" pitchFamily="34" charset="-122"/>
                <a:cs typeface="Roboto Condensed" pitchFamily="34" charset="-120"/>
              </a:rPr>
              <a:t> Filters frames with negligible landmark displacement</a:t>
            </a:r>
            <a:endParaRPr lang="en-US" sz="1550" dirty="0"/>
          </a:p>
          <a:p>
            <a:pPr marL="342900" indent="-342900" algn="l">
              <a:lnSpc>
                <a:spcPts val="2500"/>
              </a:lnSpc>
              <a:buSzPct val="100000"/>
              <a:buChar char="•"/>
            </a:pPr>
            <a:r>
              <a:rPr lang="en-US" sz="1550" b="1" dirty="0">
                <a:solidFill>
                  <a:srgbClr val="55575A"/>
                </a:solidFill>
                <a:latin typeface="Roboto Condensed" pitchFamily="34" charset="0"/>
                <a:ea typeface="Roboto Condensed" pitchFamily="34" charset="-122"/>
                <a:cs typeface="Roboto Condensed" pitchFamily="34" charset="-120"/>
              </a:rPr>
              <a:t>Excel output:</a:t>
            </a:r>
            <a:r>
              <a:rPr lang="en-US" sz="1550" dirty="0">
                <a:solidFill>
                  <a:srgbClr val="55575A"/>
                </a:solidFill>
                <a:latin typeface="Roboto Condensed" pitchFamily="34" charset="0"/>
                <a:ea typeface="Roboto Condensed" pitchFamily="34" charset="-122"/>
                <a:cs typeface="Roboto Condensed" pitchFamily="34" charset="-120"/>
              </a:rPr>
              <a:t> Colour-coded rows (green = Good, red = Bad), summary sheet, per-exercise sheets</a:t>
            </a:r>
            <a:endParaRPr lang="en-US" sz="1550" dirty="0"/>
          </a:p>
        </p:txBody>
      </p:sp>
      <p:sp>
        <p:nvSpPr>
          <p:cNvPr id="8" name="Shape 6"/>
          <p:cNvSpPr/>
          <p:nvPr/>
        </p:nvSpPr>
        <p:spPr>
          <a:xfrm>
            <a:off x="7421999" y="2810351"/>
            <a:ext cx="6565106" cy="4837271"/>
          </a:xfrm>
          <a:prstGeom prst="roundRect">
            <a:avLst>
              <a:gd name="adj" fmla="val 615"/>
            </a:avLst>
          </a:prstGeom>
          <a:solidFill>
            <a:srgbClr val="1E1E1A"/>
          </a:solidFill>
          <a:ln/>
        </p:spPr>
      </p:sp>
      <p:sp>
        <p:nvSpPr>
          <p:cNvPr id="9" name="Text 7"/>
          <p:cNvSpPr/>
          <p:nvPr/>
        </p:nvSpPr>
        <p:spPr>
          <a:xfrm>
            <a:off x="7620357" y="3008709"/>
            <a:ext cx="6168390" cy="620316"/>
          </a:xfrm>
          <a:prstGeom prst="rect">
            <a:avLst/>
          </a:prstGeom>
          <a:noFill/>
          <a:ln/>
        </p:spPr>
        <p:txBody>
          <a:bodyPr wrap="square" lIns="0" tIns="0" rIns="0" bIns="0" rtlCol="0" anchor="t"/>
          <a:lstStyle/>
          <a:p>
            <a:pPr marL="0" indent="0" algn="l">
              <a:lnSpc>
                <a:spcPts val="2400"/>
              </a:lnSpc>
              <a:buNone/>
            </a:pPr>
            <a:r>
              <a:rPr lang="en-US" sz="1950" b="1" dirty="0">
                <a:solidFill>
                  <a:srgbClr val="FFFFFF"/>
                </a:solidFill>
                <a:latin typeface="Hubot Sans Bold" pitchFamily="34" charset="0"/>
                <a:ea typeface="Hubot Sans Bold" pitchFamily="34" charset="-122"/>
                <a:cs typeface="Hubot Sans Bold" pitchFamily="34" charset="-120"/>
              </a:rPr>
              <a:t>SAMPLE CODE SNIPPET — ANGLE CALCULATION</a:t>
            </a:r>
            <a:endParaRPr lang="en-US" sz="1950" dirty="0"/>
          </a:p>
        </p:txBody>
      </p:sp>
      <p:sp>
        <p:nvSpPr>
          <p:cNvPr id="10" name="Shape 8"/>
          <p:cNvSpPr/>
          <p:nvPr/>
        </p:nvSpPr>
        <p:spPr>
          <a:xfrm>
            <a:off x="7620357" y="3852267"/>
            <a:ext cx="6168390" cy="3572113"/>
          </a:xfrm>
          <a:prstGeom prst="roundRect">
            <a:avLst>
              <a:gd name="adj" fmla="val 833"/>
            </a:avLst>
          </a:prstGeom>
          <a:solidFill>
            <a:srgbClr val="2B2B27"/>
          </a:solidFill>
          <a:ln/>
        </p:spPr>
      </p:sp>
      <p:sp>
        <p:nvSpPr>
          <p:cNvPr id="11" name="Shape 9"/>
          <p:cNvSpPr/>
          <p:nvPr/>
        </p:nvSpPr>
        <p:spPr>
          <a:xfrm>
            <a:off x="7610475" y="3852267"/>
            <a:ext cx="6188154" cy="3572113"/>
          </a:xfrm>
          <a:prstGeom prst="roundRect">
            <a:avLst>
              <a:gd name="adj" fmla="val 833"/>
            </a:avLst>
          </a:prstGeom>
          <a:solidFill>
            <a:srgbClr val="2B2B27"/>
          </a:solidFill>
          <a:ln/>
        </p:spPr>
      </p:sp>
      <p:sp>
        <p:nvSpPr>
          <p:cNvPr id="12" name="Text 10"/>
          <p:cNvSpPr/>
          <p:nvPr/>
        </p:nvSpPr>
        <p:spPr>
          <a:xfrm>
            <a:off x="7858482" y="4050625"/>
            <a:ext cx="5692140" cy="3175397"/>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def calculate_angle(a, b, c):</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a = np.array(a)</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b = np.array(b)</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c = np.array(c)</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ba = a - b</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bc = c - b</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cosine = np.dot(ba, bc) / (</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np.linalg.norm(ba) * np.linalg.norm(bc)</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a:t>
            </a:r>
            <a:endParaRPr lang="en-US" sz="1550" dirty="0"/>
          </a:p>
          <a:p>
            <a:pPr marL="0" indent="0" algn="l">
              <a:lnSpc>
                <a:spcPts val="2500"/>
              </a:lnSpc>
              <a:buNone/>
            </a:pPr>
            <a:r>
              <a:rPr lang="en-US" sz="1550" dirty="0">
                <a:solidFill>
                  <a:srgbClr val="FFFFFF"/>
                </a:solidFill>
                <a:latin typeface="Consolas" pitchFamily="34" charset="0"/>
                <a:ea typeface="Consolas" pitchFamily="34" charset="-122"/>
                <a:cs typeface="Consolas" pitchFamily="34" charset="-120"/>
              </a:rPr>
              <a:t> return np.degrees(np.arccos(np.clip(cosine, -1.0, 1.0)))</a:t>
            </a:r>
            <a:endParaRPr lang="en-US" sz="1550" dirty="0"/>
          </a:p>
        </p:txBody>
      </p:sp>
      <p:pic>
        <p:nvPicPr>
          <p:cNvPr id="13" name="Picture 12">
            <a:extLst>
              <a:ext uri="{FF2B5EF4-FFF2-40B4-BE49-F238E27FC236}">
                <a16:creationId xmlns:a16="http://schemas.microsoft.com/office/drawing/2014/main" id="{0D8668DF-5AC3-6EEA-ED73-6805EC00C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4" name="Footer Placeholder 3">
            <a:extLst>
              <a:ext uri="{FF2B5EF4-FFF2-40B4-BE49-F238E27FC236}">
                <a16:creationId xmlns:a16="http://schemas.microsoft.com/office/drawing/2014/main" id="{0DA43B1C-F6DA-BA75-973A-77188D707D9F}"/>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240242" y="902379"/>
            <a:ext cx="768548" cy="359092"/>
          </a:xfrm>
          <a:prstGeom prst="roundRect">
            <a:avLst>
              <a:gd name="adj" fmla="val 6447"/>
            </a:avLst>
          </a:prstGeom>
          <a:solidFill>
            <a:srgbClr val="E7E7E4"/>
          </a:solidFill>
          <a:ln/>
        </p:spPr>
      </p:sp>
      <p:sp>
        <p:nvSpPr>
          <p:cNvPr id="3" name="Text 1"/>
          <p:cNvSpPr/>
          <p:nvPr/>
        </p:nvSpPr>
        <p:spPr>
          <a:xfrm>
            <a:off x="1355970" y="846296"/>
            <a:ext cx="537091" cy="243364"/>
          </a:xfrm>
          <a:prstGeom prst="rect">
            <a:avLst/>
          </a:prstGeom>
          <a:noFill/>
          <a:ln/>
        </p:spPr>
        <p:txBody>
          <a:bodyPr wrap="none" lIns="0" tIns="0" rIns="0" bIns="0" rtlCol="0" anchor="t"/>
          <a:lstStyle/>
          <a:p>
            <a:pPr marL="0" indent="0" algn="l">
              <a:lnSpc>
                <a:spcPts val="1900"/>
              </a:lnSpc>
              <a:buNone/>
            </a:pPr>
            <a:r>
              <a:rPr lang="en-US" sz="1200" dirty="0">
                <a:solidFill>
                  <a:srgbClr val="55575A"/>
                </a:solidFill>
                <a:latin typeface="Roboto Condensed" pitchFamily="34" charset="0"/>
                <a:ea typeface="Roboto Condensed" pitchFamily="34" charset="-122"/>
                <a:cs typeface="Roboto Condensed" pitchFamily="34" charset="-120"/>
              </a:rPr>
              <a:t>RESULTS</a:t>
            </a:r>
            <a:endParaRPr lang="en-US" sz="1200" dirty="0"/>
          </a:p>
        </p:txBody>
      </p:sp>
      <p:sp>
        <p:nvSpPr>
          <p:cNvPr id="4" name="Text 2"/>
          <p:cNvSpPr/>
          <p:nvPr/>
        </p:nvSpPr>
        <p:spPr>
          <a:xfrm>
            <a:off x="1307154" y="1203473"/>
            <a:ext cx="4823341" cy="602813"/>
          </a:xfrm>
          <a:prstGeom prst="rect">
            <a:avLst/>
          </a:prstGeom>
          <a:noFill/>
          <a:ln/>
        </p:spPr>
        <p:txBody>
          <a:bodyPr wrap="none" lIns="0" tIns="0" rIns="0" bIns="0" rtlCol="0" anchor="t"/>
          <a:lstStyle/>
          <a:p>
            <a:pPr marL="0" indent="0" algn="l">
              <a:lnSpc>
                <a:spcPts val="4700"/>
              </a:lnSpc>
              <a:buNone/>
            </a:pPr>
            <a:r>
              <a:rPr lang="en-US" sz="3750" b="1" dirty="0">
                <a:solidFill>
                  <a:srgbClr val="0C0D0F"/>
                </a:solidFill>
                <a:latin typeface="Hubot Sans Bold" pitchFamily="34" charset="0"/>
                <a:ea typeface="Hubot Sans Bold" pitchFamily="34" charset="-122"/>
                <a:cs typeface="Hubot Sans Bold" pitchFamily="34" charset="-120"/>
              </a:rPr>
              <a:t>RESULTS</a:t>
            </a:r>
            <a:endParaRPr lang="en-US" sz="3750" dirty="0"/>
          </a:p>
        </p:txBody>
      </p:sp>
      <p:sp>
        <p:nvSpPr>
          <p:cNvPr id="5" name="Text 3"/>
          <p:cNvSpPr/>
          <p:nvPr/>
        </p:nvSpPr>
        <p:spPr>
          <a:xfrm>
            <a:off x="771644" y="2062996"/>
            <a:ext cx="13087112" cy="608409"/>
          </a:xfrm>
          <a:prstGeom prst="rect">
            <a:avLst/>
          </a:prstGeom>
          <a:noFill/>
          <a:ln/>
        </p:spPr>
        <p:txBody>
          <a:bodyPr wrap="squar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The pipeline successfully processed all exercise videos, generating a dataset comprising thousands of labelled frames. The table below presents </a:t>
            </a:r>
            <a:r>
              <a:rPr lang="en-US" sz="1500" b="1" dirty="0">
                <a:solidFill>
                  <a:srgbClr val="55575A"/>
                </a:solidFill>
                <a:latin typeface="Roboto Condensed" pitchFamily="34" charset="0"/>
                <a:ea typeface="Roboto Condensed" pitchFamily="34" charset="-122"/>
                <a:cs typeface="Roboto Condensed" pitchFamily="34" charset="-120"/>
              </a:rPr>
              <a:t>average joint angles</a:t>
            </a:r>
            <a:r>
              <a:rPr lang="en-US" sz="1500" dirty="0">
                <a:solidFill>
                  <a:srgbClr val="55575A"/>
                </a:solidFill>
                <a:latin typeface="Roboto Condensed" pitchFamily="34" charset="0"/>
                <a:ea typeface="Roboto Condensed" pitchFamily="34" charset="-122"/>
                <a:cs typeface="Roboto Condensed" pitchFamily="34" charset="-120"/>
              </a:rPr>
              <a:t> (in degrees) for Good vs Bad form across the five primary exercises. Clear biomechanical distinctions are evident, validating the discriminative power of the extracted features.</a:t>
            </a:r>
            <a:endParaRPr lang="en-US" sz="1500" dirty="0"/>
          </a:p>
        </p:txBody>
      </p:sp>
      <p:sp>
        <p:nvSpPr>
          <p:cNvPr id="6" name="Shape 4"/>
          <p:cNvSpPr/>
          <p:nvPr/>
        </p:nvSpPr>
        <p:spPr>
          <a:xfrm>
            <a:off x="771644" y="2882384"/>
            <a:ext cx="13087112" cy="3282077"/>
          </a:xfrm>
          <a:prstGeom prst="roundRect">
            <a:avLst>
              <a:gd name="adj" fmla="val 882"/>
            </a:avLst>
          </a:prstGeom>
          <a:noFill/>
          <a:ln w="7620">
            <a:solidFill>
              <a:srgbClr val="000000">
                <a:alpha val="8000"/>
              </a:srgbClr>
            </a:solidFill>
            <a:prstDash val="solid"/>
          </a:ln>
        </p:spPr>
      </p:sp>
      <p:sp>
        <p:nvSpPr>
          <p:cNvPr id="7" name="Shape 5"/>
          <p:cNvSpPr/>
          <p:nvPr/>
        </p:nvSpPr>
        <p:spPr>
          <a:xfrm>
            <a:off x="779264" y="2890004"/>
            <a:ext cx="13071872" cy="544473"/>
          </a:xfrm>
          <a:prstGeom prst="rect">
            <a:avLst/>
          </a:prstGeom>
          <a:solidFill>
            <a:srgbClr val="FFFFFF">
              <a:alpha val="4000"/>
            </a:srgbClr>
          </a:solidFill>
          <a:ln/>
        </p:spPr>
      </p:sp>
      <p:sp>
        <p:nvSpPr>
          <p:cNvPr id="8" name="Text 6"/>
          <p:cNvSpPr/>
          <p:nvPr/>
        </p:nvSpPr>
        <p:spPr>
          <a:xfrm>
            <a:off x="972383" y="3010138"/>
            <a:ext cx="2224802" cy="304205"/>
          </a:xfrm>
          <a:prstGeom prst="rect">
            <a:avLst/>
          </a:prstGeom>
          <a:noFill/>
          <a:ln/>
        </p:spPr>
        <p:txBody>
          <a:bodyPr wrap="none" lIns="0" tIns="0" rIns="0" bIns="0" rtlCol="0" anchor="t"/>
          <a:lstStyle/>
          <a:p>
            <a:pPr marL="0" indent="0" algn="l">
              <a:lnSpc>
                <a:spcPts val="2350"/>
              </a:lnSpc>
              <a:buNone/>
            </a:pPr>
            <a:r>
              <a:rPr lang="en-US" sz="1500" b="1" dirty="0">
                <a:solidFill>
                  <a:srgbClr val="55575A"/>
                </a:solidFill>
                <a:latin typeface="Roboto Condensed" pitchFamily="34" charset="0"/>
                <a:ea typeface="Roboto Condensed" pitchFamily="34" charset="-122"/>
                <a:cs typeface="Roboto Condensed" pitchFamily="34" charset="-120"/>
              </a:rPr>
              <a:t>Exercise</a:t>
            </a:r>
            <a:endParaRPr lang="en-US" sz="1500" dirty="0"/>
          </a:p>
        </p:txBody>
      </p:sp>
      <p:sp>
        <p:nvSpPr>
          <p:cNvPr id="9" name="Text 7"/>
          <p:cNvSpPr/>
          <p:nvPr/>
        </p:nvSpPr>
        <p:spPr>
          <a:xfrm>
            <a:off x="3590568" y="3010138"/>
            <a:ext cx="1698069" cy="304205"/>
          </a:xfrm>
          <a:prstGeom prst="rect">
            <a:avLst/>
          </a:prstGeom>
          <a:noFill/>
          <a:ln/>
        </p:spPr>
        <p:txBody>
          <a:bodyPr wrap="none" lIns="0" tIns="0" rIns="0" bIns="0" rtlCol="0" anchor="t"/>
          <a:lstStyle/>
          <a:p>
            <a:pPr marL="0" indent="0" algn="l">
              <a:lnSpc>
                <a:spcPts val="2350"/>
              </a:lnSpc>
              <a:buNone/>
            </a:pPr>
            <a:r>
              <a:rPr lang="en-US" sz="1500" b="1" dirty="0">
                <a:solidFill>
                  <a:srgbClr val="55575A"/>
                </a:solidFill>
                <a:latin typeface="Roboto Condensed" pitchFamily="34" charset="0"/>
                <a:ea typeface="Roboto Condensed" pitchFamily="34" charset="-122"/>
                <a:cs typeface="Roboto Condensed" pitchFamily="34" charset="-120"/>
              </a:rPr>
              <a:t>Elbow (Good)</a:t>
            </a:r>
            <a:endParaRPr lang="en-US" sz="1500" dirty="0"/>
          </a:p>
        </p:txBody>
      </p:sp>
      <p:sp>
        <p:nvSpPr>
          <p:cNvPr id="10" name="Text 8"/>
          <p:cNvSpPr/>
          <p:nvPr/>
        </p:nvSpPr>
        <p:spPr>
          <a:xfrm>
            <a:off x="5682020" y="3010138"/>
            <a:ext cx="1698069" cy="304205"/>
          </a:xfrm>
          <a:prstGeom prst="rect">
            <a:avLst/>
          </a:prstGeom>
          <a:noFill/>
          <a:ln/>
        </p:spPr>
        <p:txBody>
          <a:bodyPr wrap="none" lIns="0" tIns="0" rIns="0" bIns="0" rtlCol="0" anchor="t"/>
          <a:lstStyle/>
          <a:p>
            <a:pPr marL="0" indent="0" algn="l">
              <a:lnSpc>
                <a:spcPts val="2350"/>
              </a:lnSpc>
              <a:buNone/>
            </a:pPr>
            <a:r>
              <a:rPr lang="en-US" sz="1500" b="1" dirty="0">
                <a:solidFill>
                  <a:srgbClr val="55575A"/>
                </a:solidFill>
                <a:latin typeface="Roboto Condensed" pitchFamily="34" charset="0"/>
                <a:ea typeface="Roboto Condensed" pitchFamily="34" charset="-122"/>
                <a:cs typeface="Roboto Condensed" pitchFamily="34" charset="-120"/>
              </a:rPr>
              <a:t>Elbow (Bad)</a:t>
            </a:r>
            <a:endParaRPr lang="en-US" sz="1500" dirty="0"/>
          </a:p>
        </p:txBody>
      </p:sp>
      <p:sp>
        <p:nvSpPr>
          <p:cNvPr id="11" name="Text 9"/>
          <p:cNvSpPr/>
          <p:nvPr/>
        </p:nvSpPr>
        <p:spPr>
          <a:xfrm>
            <a:off x="7773472" y="3010138"/>
            <a:ext cx="1698069" cy="304205"/>
          </a:xfrm>
          <a:prstGeom prst="rect">
            <a:avLst/>
          </a:prstGeom>
          <a:noFill/>
          <a:ln/>
        </p:spPr>
        <p:txBody>
          <a:bodyPr wrap="none" lIns="0" tIns="0" rIns="0" bIns="0" rtlCol="0" anchor="t"/>
          <a:lstStyle/>
          <a:p>
            <a:pPr marL="0" indent="0" algn="l">
              <a:lnSpc>
                <a:spcPts val="2350"/>
              </a:lnSpc>
              <a:buNone/>
            </a:pPr>
            <a:r>
              <a:rPr lang="en-US" sz="1500" b="1" dirty="0">
                <a:solidFill>
                  <a:srgbClr val="55575A"/>
                </a:solidFill>
                <a:latin typeface="Roboto Condensed" pitchFamily="34" charset="0"/>
                <a:ea typeface="Roboto Condensed" pitchFamily="34" charset="-122"/>
                <a:cs typeface="Roboto Condensed" pitchFamily="34" charset="-120"/>
              </a:rPr>
              <a:t>Shoulder (Good)</a:t>
            </a:r>
            <a:endParaRPr lang="en-US" sz="1500" dirty="0"/>
          </a:p>
        </p:txBody>
      </p:sp>
      <p:sp>
        <p:nvSpPr>
          <p:cNvPr id="12" name="Text 10"/>
          <p:cNvSpPr/>
          <p:nvPr/>
        </p:nvSpPr>
        <p:spPr>
          <a:xfrm>
            <a:off x="9864923" y="3010138"/>
            <a:ext cx="1698069" cy="304205"/>
          </a:xfrm>
          <a:prstGeom prst="rect">
            <a:avLst/>
          </a:prstGeom>
          <a:noFill/>
          <a:ln/>
        </p:spPr>
        <p:txBody>
          <a:bodyPr wrap="none" lIns="0" tIns="0" rIns="0" bIns="0" rtlCol="0" anchor="t"/>
          <a:lstStyle/>
          <a:p>
            <a:pPr marL="0" indent="0" algn="l">
              <a:lnSpc>
                <a:spcPts val="2350"/>
              </a:lnSpc>
              <a:buNone/>
            </a:pPr>
            <a:r>
              <a:rPr lang="en-US" sz="1500" b="1" dirty="0">
                <a:solidFill>
                  <a:srgbClr val="55575A"/>
                </a:solidFill>
                <a:latin typeface="Roboto Condensed" pitchFamily="34" charset="0"/>
                <a:ea typeface="Roboto Condensed" pitchFamily="34" charset="-122"/>
                <a:cs typeface="Roboto Condensed" pitchFamily="34" charset="-120"/>
              </a:rPr>
              <a:t>Hip (Good)</a:t>
            </a:r>
            <a:endParaRPr lang="en-US" sz="1500" dirty="0"/>
          </a:p>
        </p:txBody>
      </p:sp>
      <p:sp>
        <p:nvSpPr>
          <p:cNvPr id="13" name="Text 11"/>
          <p:cNvSpPr/>
          <p:nvPr/>
        </p:nvSpPr>
        <p:spPr>
          <a:xfrm>
            <a:off x="11956375" y="3010138"/>
            <a:ext cx="1701879" cy="304205"/>
          </a:xfrm>
          <a:prstGeom prst="rect">
            <a:avLst/>
          </a:prstGeom>
          <a:noFill/>
          <a:ln/>
        </p:spPr>
        <p:txBody>
          <a:bodyPr wrap="none" lIns="0" tIns="0" rIns="0" bIns="0" rtlCol="0" anchor="t"/>
          <a:lstStyle/>
          <a:p>
            <a:pPr marL="0" indent="0" algn="l">
              <a:lnSpc>
                <a:spcPts val="2350"/>
              </a:lnSpc>
              <a:buNone/>
            </a:pPr>
            <a:r>
              <a:rPr lang="en-US" sz="1500" b="1" dirty="0">
                <a:solidFill>
                  <a:srgbClr val="55575A"/>
                </a:solidFill>
                <a:latin typeface="Roboto Condensed" pitchFamily="34" charset="0"/>
                <a:ea typeface="Roboto Condensed" pitchFamily="34" charset="-122"/>
                <a:cs typeface="Roboto Condensed" pitchFamily="34" charset="-120"/>
              </a:rPr>
              <a:t>Knee (Good)</a:t>
            </a:r>
            <a:endParaRPr lang="en-US" sz="1500" dirty="0"/>
          </a:p>
        </p:txBody>
      </p:sp>
      <p:sp>
        <p:nvSpPr>
          <p:cNvPr id="14" name="Shape 12"/>
          <p:cNvSpPr/>
          <p:nvPr/>
        </p:nvSpPr>
        <p:spPr>
          <a:xfrm>
            <a:off x="779264" y="3434477"/>
            <a:ext cx="13071872" cy="544473"/>
          </a:xfrm>
          <a:prstGeom prst="rect">
            <a:avLst/>
          </a:prstGeom>
          <a:solidFill>
            <a:srgbClr val="000000">
              <a:alpha val="4000"/>
            </a:srgbClr>
          </a:solidFill>
          <a:ln/>
        </p:spPr>
      </p:sp>
      <p:sp>
        <p:nvSpPr>
          <p:cNvPr id="15" name="Text 13"/>
          <p:cNvSpPr/>
          <p:nvPr/>
        </p:nvSpPr>
        <p:spPr>
          <a:xfrm>
            <a:off x="972383" y="3554611"/>
            <a:ext cx="2224802"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Push-Up</a:t>
            </a:r>
            <a:endParaRPr lang="en-US" sz="1500" dirty="0"/>
          </a:p>
        </p:txBody>
      </p:sp>
      <p:sp>
        <p:nvSpPr>
          <p:cNvPr id="16" name="Text 14"/>
          <p:cNvSpPr/>
          <p:nvPr/>
        </p:nvSpPr>
        <p:spPr>
          <a:xfrm>
            <a:off x="3590568" y="3554611"/>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88°</a:t>
            </a:r>
            <a:endParaRPr lang="en-US" sz="1500" dirty="0"/>
          </a:p>
        </p:txBody>
      </p:sp>
      <p:sp>
        <p:nvSpPr>
          <p:cNvPr id="17" name="Text 15"/>
          <p:cNvSpPr/>
          <p:nvPr/>
        </p:nvSpPr>
        <p:spPr>
          <a:xfrm>
            <a:off x="5682020" y="3554611"/>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62°</a:t>
            </a:r>
            <a:endParaRPr lang="en-US" sz="1500" dirty="0"/>
          </a:p>
        </p:txBody>
      </p:sp>
      <p:sp>
        <p:nvSpPr>
          <p:cNvPr id="18" name="Text 16"/>
          <p:cNvSpPr/>
          <p:nvPr/>
        </p:nvSpPr>
        <p:spPr>
          <a:xfrm>
            <a:off x="7773472" y="3554611"/>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172°</a:t>
            </a:r>
            <a:endParaRPr lang="en-US" sz="1500" dirty="0"/>
          </a:p>
        </p:txBody>
      </p:sp>
      <p:sp>
        <p:nvSpPr>
          <p:cNvPr id="19" name="Text 17"/>
          <p:cNvSpPr/>
          <p:nvPr/>
        </p:nvSpPr>
        <p:spPr>
          <a:xfrm>
            <a:off x="9864923" y="3554611"/>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178°</a:t>
            </a:r>
            <a:endParaRPr lang="en-US" sz="1500" dirty="0"/>
          </a:p>
        </p:txBody>
      </p:sp>
      <p:sp>
        <p:nvSpPr>
          <p:cNvPr id="20" name="Text 18"/>
          <p:cNvSpPr/>
          <p:nvPr/>
        </p:nvSpPr>
        <p:spPr>
          <a:xfrm>
            <a:off x="11956375" y="3554611"/>
            <a:ext cx="170187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175°</a:t>
            </a:r>
            <a:endParaRPr lang="en-US" sz="1500" dirty="0"/>
          </a:p>
        </p:txBody>
      </p:sp>
      <p:sp>
        <p:nvSpPr>
          <p:cNvPr id="21" name="Shape 19"/>
          <p:cNvSpPr/>
          <p:nvPr/>
        </p:nvSpPr>
        <p:spPr>
          <a:xfrm>
            <a:off x="779264" y="3978950"/>
            <a:ext cx="13071872" cy="544473"/>
          </a:xfrm>
          <a:prstGeom prst="rect">
            <a:avLst/>
          </a:prstGeom>
          <a:solidFill>
            <a:srgbClr val="FFFFFF">
              <a:alpha val="4000"/>
            </a:srgbClr>
          </a:solidFill>
          <a:ln/>
        </p:spPr>
      </p:sp>
      <p:sp>
        <p:nvSpPr>
          <p:cNvPr id="22" name="Text 20"/>
          <p:cNvSpPr/>
          <p:nvPr/>
        </p:nvSpPr>
        <p:spPr>
          <a:xfrm>
            <a:off x="972383" y="4099084"/>
            <a:ext cx="2224802"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Bicep Curl</a:t>
            </a:r>
            <a:endParaRPr lang="en-US" sz="1500" dirty="0"/>
          </a:p>
        </p:txBody>
      </p:sp>
      <p:sp>
        <p:nvSpPr>
          <p:cNvPr id="23" name="Text 21"/>
          <p:cNvSpPr/>
          <p:nvPr/>
        </p:nvSpPr>
        <p:spPr>
          <a:xfrm>
            <a:off x="3590568" y="4099084"/>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42°</a:t>
            </a:r>
            <a:endParaRPr lang="en-US" sz="1500" dirty="0"/>
          </a:p>
        </p:txBody>
      </p:sp>
      <p:sp>
        <p:nvSpPr>
          <p:cNvPr id="24" name="Text 22"/>
          <p:cNvSpPr/>
          <p:nvPr/>
        </p:nvSpPr>
        <p:spPr>
          <a:xfrm>
            <a:off x="5682020" y="4099084"/>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110°</a:t>
            </a:r>
            <a:endParaRPr lang="en-US" sz="1500" dirty="0"/>
          </a:p>
        </p:txBody>
      </p:sp>
      <p:sp>
        <p:nvSpPr>
          <p:cNvPr id="25" name="Text 23"/>
          <p:cNvSpPr/>
          <p:nvPr/>
        </p:nvSpPr>
        <p:spPr>
          <a:xfrm>
            <a:off x="7773472" y="4099084"/>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168°</a:t>
            </a:r>
            <a:endParaRPr lang="en-US" sz="1500" dirty="0"/>
          </a:p>
        </p:txBody>
      </p:sp>
      <p:sp>
        <p:nvSpPr>
          <p:cNvPr id="26" name="Text 24"/>
          <p:cNvSpPr/>
          <p:nvPr/>
        </p:nvSpPr>
        <p:spPr>
          <a:xfrm>
            <a:off x="9864923" y="4099084"/>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180°</a:t>
            </a:r>
            <a:endParaRPr lang="en-US" sz="1500" dirty="0"/>
          </a:p>
        </p:txBody>
      </p:sp>
      <p:sp>
        <p:nvSpPr>
          <p:cNvPr id="27" name="Text 25"/>
          <p:cNvSpPr/>
          <p:nvPr/>
        </p:nvSpPr>
        <p:spPr>
          <a:xfrm>
            <a:off x="11956375" y="4099084"/>
            <a:ext cx="170187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178°</a:t>
            </a:r>
            <a:endParaRPr lang="en-US" sz="1500" dirty="0"/>
          </a:p>
        </p:txBody>
      </p:sp>
      <p:sp>
        <p:nvSpPr>
          <p:cNvPr id="28" name="Shape 26"/>
          <p:cNvSpPr/>
          <p:nvPr/>
        </p:nvSpPr>
        <p:spPr>
          <a:xfrm>
            <a:off x="779264" y="4523423"/>
            <a:ext cx="13071872" cy="544473"/>
          </a:xfrm>
          <a:prstGeom prst="rect">
            <a:avLst/>
          </a:prstGeom>
          <a:solidFill>
            <a:srgbClr val="000000">
              <a:alpha val="4000"/>
            </a:srgbClr>
          </a:solidFill>
          <a:ln/>
        </p:spPr>
      </p:sp>
      <p:sp>
        <p:nvSpPr>
          <p:cNvPr id="29" name="Text 27"/>
          <p:cNvSpPr/>
          <p:nvPr/>
        </p:nvSpPr>
        <p:spPr>
          <a:xfrm>
            <a:off x="972383" y="4643557"/>
            <a:ext cx="2224802"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Squat</a:t>
            </a:r>
            <a:endParaRPr lang="en-US" sz="1500" dirty="0"/>
          </a:p>
        </p:txBody>
      </p:sp>
      <p:sp>
        <p:nvSpPr>
          <p:cNvPr id="30" name="Text 28"/>
          <p:cNvSpPr/>
          <p:nvPr/>
        </p:nvSpPr>
        <p:spPr>
          <a:xfrm>
            <a:off x="3590568" y="4643557"/>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175°</a:t>
            </a:r>
            <a:endParaRPr lang="en-US" sz="1500" dirty="0"/>
          </a:p>
        </p:txBody>
      </p:sp>
      <p:sp>
        <p:nvSpPr>
          <p:cNvPr id="31" name="Text 29"/>
          <p:cNvSpPr/>
          <p:nvPr/>
        </p:nvSpPr>
        <p:spPr>
          <a:xfrm>
            <a:off x="5682020" y="4643557"/>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174°</a:t>
            </a:r>
            <a:endParaRPr lang="en-US" sz="1500" dirty="0"/>
          </a:p>
        </p:txBody>
      </p:sp>
      <p:sp>
        <p:nvSpPr>
          <p:cNvPr id="32" name="Text 30"/>
          <p:cNvSpPr/>
          <p:nvPr/>
        </p:nvSpPr>
        <p:spPr>
          <a:xfrm>
            <a:off x="7773472" y="4643557"/>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165°</a:t>
            </a:r>
            <a:endParaRPr lang="en-US" sz="1500" dirty="0"/>
          </a:p>
        </p:txBody>
      </p:sp>
      <p:sp>
        <p:nvSpPr>
          <p:cNvPr id="33" name="Text 31"/>
          <p:cNvSpPr/>
          <p:nvPr/>
        </p:nvSpPr>
        <p:spPr>
          <a:xfrm>
            <a:off x="9864923" y="4643557"/>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92°</a:t>
            </a:r>
            <a:endParaRPr lang="en-US" sz="1500" dirty="0"/>
          </a:p>
        </p:txBody>
      </p:sp>
      <p:sp>
        <p:nvSpPr>
          <p:cNvPr id="34" name="Text 32"/>
          <p:cNvSpPr/>
          <p:nvPr/>
        </p:nvSpPr>
        <p:spPr>
          <a:xfrm>
            <a:off x="11956375" y="4643557"/>
            <a:ext cx="170187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98°</a:t>
            </a:r>
            <a:endParaRPr lang="en-US" sz="1500" dirty="0"/>
          </a:p>
        </p:txBody>
      </p:sp>
      <p:sp>
        <p:nvSpPr>
          <p:cNvPr id="35" name="Shape 33"/>
          <p:cNvSpPr/>
          <p:nvPr/>
        </p:nvSpPr>
        <p:spPr>
          <a:xfrm>
            <a:off x="779264" y="5067895"/>
            <a:ext cx="13071872" cy="544473"/>
          </a:xfrm>
          <a:prstGeom prst="rect">
            <a:avLst/>
          </a:prstGeom>
          <a:solidFill>
            <a:srgbClr val="FFFFFF">
              <a:alpha val="4000"/>
            </a:srgbClr>
          </a:solidFill>
          <a:ln/>
        </p:spPr>
      </p:sp>
      <p:sp>
        <p:nvSpPr>
          <p:cNvPr id="36" name="Text 34"/>
          <p:cNvSpPr/>
          <p:nvPr/>
        </p:nvSpPr>
        <p:spPr>
          <a:xfrm>
            <a:off x="972383" y="5188029"/>
            <a:ext cx="2224802"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Deadlift</a:t>
            </a:r>
            <a:endParaRPr lang="en-US" sz="1500" dirty="0"/>
          </a:p>
        </p:txBody>
      </p:sp>
      <p:sp>
        <p:nvSpPr>
          <p:cNvPr id="37" name="Text 35"/>
          <p:cNvSpPr/>
          <p:nvPr/>
        </p:nvSpPr>
        <p:spPr>
          <a:xfrm>
            <a:off x="3590568" y="5188029"/>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176°</a:t>
            </a:r>
            <a:endParaRPr lang="en-US" sz="1500" dirty="0"/>
          </a:p>
        </p:txBody>
      </p:sp>
      <p:sp>
        <p:nvSpPr>
          <p:cNvPr id="38" name="Text 36"/>
          <p:cNvSpPr/>
          <p:nvPr/>
        </p:nvSpPr>
        <p:spPr>
          <a:xfrm>
            <a:off x="5682020" y="5188029"/>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160°</a:t>
            </a:r>
            <a:endParaRPr lang="en-US" sz="1500" dirty="0"/>
          </a:p>
        </p:txBody>
      </p:sp>
      <p:sp>
        <p:nvSpPr>
          <p:cNvPr id="39" name="Text 37"/>
          <p:cNvSpPr/>
          <p:nvPr/>
        </p:nvSpPr>
        <p:spPr>
          <a:xfrm>
            <a:off x="7773472" y="5188029"/>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158°</a:t>
            </a:r>
            <a:endParaRPr lang="en-US" sz="1500" dirty="0"/>
          </a:p>
        </p:txBody>
      </p:sp>
      <p:sp>
        <p:nvSpPr>
          <p:cNvPr id="40" name="Text 38"/>
          <p:cNvSpPr/>
          <p:nvPr/>
        </p:nvSpPr>
        <p:spPr>
          <a:xfrm>
            <a:off x="9864923" y="5188029"/>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162°</a:t>
            </a:r>
            <a:endParaRPr lang="en-US" sz="1500" dirty="0"/>
          </a:p>
        </p:txBody>
      </p:sp>
      <p:sp>
        <p:nvSpPr>
          <p:cNvPr id="41" name="Text 39"/>
          <p:cNvSpPr/>
          <p:nvPr/>
        </p:nvSpPr>
        <p:spPr>
          <a:xfrm>
            <a:off x="11956375" y="5188029"/>
            <a:ext cx="170187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172°</a:t>
            </a:r>
            <a:endParaRPr lang="en-US" sz="1500" dirty="0"/>
          </a:p>
        </p:txBody>
      </p:sp>
      <p:sp>
        <p:nvSpPr>
          <p:cNvPr id="42" name="Shape 40"/>
          <p:cNvSpPr/>
          <p:nvPr/>
        </p:nvSpPr>
        <p:spPr>
          <a:xfrm>
            <a:off x="779264" y="5612368"/>
            <a:ext cx="13071872" cy="544473"/>
          </a:xfrm>
          <a:prstGeom prst="rect">
            <a:avLst/>
          </a:prstGeom>
          <a:solidFill>
            <a:srgbClr val="000000">
              <a:alpha val="4000"/>
            </a:srgbClr>
          </a:solidFill>
          <a:ln/>
        </p:spPr>
      </p:sp>
      <p:sp>
        <p:nvSpPr>
          <p:cNvPr id="43" name="Text 41"/>
          <p:cNvSpPr/>
          <p:nvPr/>
        </p:nvSpPr>
        <p:spPr>
          <a:xfrm>
            <a:off x="972383" y="5732502"/>
            <a:ext cx="2224802"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Plank</a:t>
            </a:r>
            <a:endParaRPr lang="en-US" sz="1500" dirty="0"/>
          </a:p>
        </p:txBody>
      </p:sp>
      <p:sp>
        <p:nvSpPr>
          <p:cNvPr id="44" name="Text 42"/>
          <p:cNvSpPr/>
          <p:nvPr/>
        </p:nvSpPr>
        <p:spPr>
          <a:xfrm>
            <a:off x="3590568" y="5732502"/>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178°</a:t>
            </a:r>
            <a:endParaRPr lang="en-US" sz="1500" dirty="0"/>
          </a:p>
        </p:txBody>
      </p:sp>
      <p:sp>
        <p:nvSpPr>
          <p:cNvPr id="45" name="Text 43"/>
          <p:cNvSpPr/>
          <p:nvPr/>
        </p:nvSpPr>
        <p:spPr>
          <a:xfrm>
            <a:off x="5682020" y="5732502"/>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170°</a:t>
            </a:r>
            <a:endParaRPr lang="en-US" sz="1500" dirty="0"/>
          </a:p>
        </p:txBody>
      </p:sp>
      <p:sp>
        <p:nvSpPr>
          <p:cNvPr id="46" name="Text 44"/>
          <p:cNvSpPr/>
          <p:nvPr/>
        </p:nvSpPr>
        <p:spPr>
          <a:xfrm>
            <a:off x="7773472" y="5732502"/>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175°</a:t>
            </a:r>
            <a:endParaRPr lang="en-US" sz="1500" dirty="0"/>
          </a:p>
        </p:txBody>
      </p:sp>
      <p:sp>
        <p:nvSpPr>
          <p:cNvPr id="47" name="Text 45"/>
          <p:cNvSpPr/>
          <p:nvPr/>
        </p:nvSpPr>
        <p:spPr>
          <a:xfrm>
            <a:off x="9864923" y="5732502"/>
            <a:ext cx="169806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178°</a:t>
            </a:r>
            <a:endParaRPr lang="en-US" sz="1500" dirty="0"/>
          </a:p>
        </p:txBody>
      </p:sp>
      <p:sp>
        <p:nvSpPr>
          <p:cNvPr id="48" name="Text 46"/>
          <p:cNvSpPr/>
          <p:nvPr/>
        </p:nvSpPr>
        <p:spPr>
          <a:xfrm>
            <a:off x="11956375" y="5732502"/>
            <a:ext cx="1701879" cy="304205"/>
          </a:xfrm>
          <a:prstGeom prst="rect">
            <a:avLst/>
          </a:prstGeom>
          <a:noFill/>
          <a:ln/>
        </p:spPr>
        <p:txBody>
          <a:bodyPr wrap="none" lIns="0" tIns="0" rIns="0" bIns="0" rtlCol="0" anchor="t"/>
          <a:lstStyle/>
          <a:p>
            <a:pPr marL="0" indent="0" algn="l">
              <a:lnSpc>
                <a:spcPts val="2350"/>
              </a:lnSpc>
              <a:buNone/>
            </a:pPr>
            <a:r>
              <a:rPr lang="en-US" sz="1500" dirty="0">
                <a:solidFill>
                  <a:srgbClr val="55575A"/>
                </a:solidFill>
                <a:latin typeface="Roboto Condensed" pitchFamily="34" charset="0"/>
                <a:ea typeface="Roboto Condensed" pitchFamily="34" charset="-122"/>
                <a:cs typeface="Roboto Condensed" pitchFamily="34" charset="-120"/>
              </a:rPr>
              <a:t>177°</a:t>
            </a:r>
            <a:endParaRPr lang="en-US" sz="1500" dirty="0"/>
          </a:p>
        </p:txBody>
      </p:sp>
      <p:sp>
        <p:nvSpPr>
          <p:cNvPr id="49" name="Shape 47"/>
          <p:cNvSpPr/>
          <p:nvPr/>
        </p:nvSpPr>
        <p:spPr>
          <a:xfrm>
            <a:off x="771644" y="6375440"/>
            <a:ext cx="13087112" cy="1109305"/>
          </a:xfrm>
          <a:prstGeom prst="roundRect">
            <a:avLst>
              <a:gd name="adj" fmla="val 2609"/>
            </a:avLst>
          </a:prstGeom>
          <a:solidFill>
            <a:srgbClr val="DBDBD6"/>
          </a:solidFill>
          <a:ln/>
        </p:spPr>
      </p:sp>
      <p:pic>
        <p:nvPicPr>
          <p:cNvPr id="50" name="Image 0" descr="preencoded.png"/>
          <p:cNvPicPr>
            <a:picLocks noChangeAspect="1"/>
          </p:cNvPicPr>
          <p:nvPr/>
        </p:nvPicPr>
        <p:blipFill>
          <a:blip r:embed="rId3"/>
          <a:stretch>
            <a:fillRect/>
          </a:stretch>
        </p:blipFill>
        <p:spPr>
          <a:xfrm>
            <a:off x="964525" y="6661071"/>
            <a:ext cx="241102" cy="192881"/>
          </a:xfrm>
          <a:prstGeom prst="rect">
            <a:avLst/>
          </a:prstGeom>
        </p:spPr>
      </p:pic>
      <p:sp>
        <p:nvSpPr>
          <p:cNvPr id="51" name="Text 48"/>
          <p:cNvSpPr/>
          <p:nvPr/>
        </p:nvSpPr>
        <p:spPr>
          <a:xfrm>
            <a:off x="1398508" y="6611183"/>
            <a:ext cx="12267367" cy="608409"/>
          </a:xfrm>
          <a:prstGeom prst="rect">
            <a:avLst/>
          </a:prstGeom>
          <a:noFill/>
          <a:ln/>
        </p:spPr>
        <p:txBody>
          <a:bodyPr wrap="square" lIns="0" tIns="0" rIns="0" bIns="0" rtlCol="0" anchor="t"/>
          <a:lstStyle/>
          <a:p>
            <a:pPr marL="0" indent="0" algn="l">
              <a:lnSpc>
                <a:spcPts val="2350"/>
              </a:lnSpc>
              <a:buNone/>
            </a:pPr>
            <a:r>
              <a:rPr lang="en-US" sz="1500" b="1" dirty="0">
                <a:solidFill>
                  <a:srgbClr val="000000"/>
                </a:solidFill>
                <a:latin typeface="Roboto Condensed" pitchFamily="34" charset="0"/>
                <a:ea typeface="Roboto Condensed" pitchFamily="34" charset="-122"/>
                <a:cs typeface="Roboto Condensed" pitchFamily="34" charset="-120"/>
              </a:rPr>
              <a:t>Key Insight:</a:t>
            </a:r>
            <a:r>
              <a:rPr lang="en-US" sz="1500" dirty="0">
                <a:solidFill>
                  <a:srgbClr val="000000"/>
                </a:solidFill>
                <a:latin typeface="Roboto Condensed" pitchFamily="34" charset="0"/>
                <a:ea typeface="Roboto Condensed" pitchFamily="34" charset="-122"/>
                <a:cs typeface="Roboto Condensed" pitchFamily="34" charset="-120"/>
              </a:rPr>
              <a:t> The most pronounced Good/Bad form differences appear in exercise-specific joints — elbow angle for bicep curls, knee angle for squats, and hip angle for deadlifts — confirming the biomechanical validity of the angle-based classification approach.</a:t>
            </a:r>
            <a:endParaRPr lang="en-US" sz="1500" dirty="0"/>
          </a:p>
        </p:txBody>
      </p:sp>
      <p:pic>
        <p:nvPicPr>
          <p:cNvPr id="52" name="Picture 51">
            <a:extLst>
              <a:ext uri="{FF2B5EF4-FFF2-40B4-BE49-F238E27FC236}">
                <a16:creationId xmlns:a16="http://schemas.microsoft.com/office/drawing/2014/main" id="{93ED2D82-EE1E-E7F9-2328-E6B71EB774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53" name="Footer Placeholder 3">
            <a:extLst>
              <a:ext uri="{FF2B5EF4-FFF2-40B4-BE49-F238E27FC236}">
                <a16:creationId xmlns:a16="http://schemas.microsoft.com/office/drawing/2014/main" id="{CC8463BA-D54E-BA86-EE55-3685081B795C}"/>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402449" y="977503"/>
            <a:ext cx="395049" cy="154781"/>
          </a:xfrm>
          <a:prstGeom prst="roundRect">
            <a:avLst>
              <a:gd name="adj" fmla="val 7694"/>
            </a:avLst>
          </a:prstGeom>
          <a:solidFill>
            <a:srgbClr val="E7E7E4"/>
          </a:solidFill>
          <a:ln/>
        </p:spPr>
      </p:sp>
      <p:sp>
        <p:nvSpPr>
          <p:cNvPr id="3" name="Text 1"/>
          <p:cNvSpPr/>
          <p:nvPr/>
        </p:nvSpPr>
        <p:spPr>
          <a:xfrm>
            <a:off x="3461980" y="1007269"/>
            <a:ext cx="275987" cy="95250"/>
          </a:xfrm>
          <a:prstGeom prst="rect">
            <a:avLst/>
          </a:prstGeom>
          <a:noFill/>
          <a:ln/>
        </p:spPr>
        <p:txBody>
          <a:bodyPr wrap="none" lIns="0" tIns="0" rIns="0" bIns="0" rtlCol="0" anchor="t"/>
          <a:lstStyle/>
          <a:p>
            <a:pPr marL="0" indent="0" algn="l">
              <a:lnSpc>
                <a:spcPts val="750"/>
              </a:lnSpc>
              <a:buNone/>
            </a:pPr>
            <a:r>
              <a:rPr lang="en-US" sz="600" dirty="0">
                <a:solidFill>
                  <a:srgbClr val="55575A"/>
                </a:solidFill>
                <a:latin typeface="Roboto Condensed" pitchFamily="34" charset="0"/>
                <a:ea typeface="Roboto Condensed" pitchFamily="34" charset="-122"/>
                <a:cs typeface="Roboto Condensed" pitchFamily="34" charset="-120"/>
              </a:rPr>
              <a:t>RESULTS</a:t>
            </a:r>
            <a:endParaRPr lang="en-US" sz="600" dirty="0"/>
          </a:p>
        </p:txBody>
      </p:sp>
      <p:sp>
        <p:nvSpPr>
          <p:cNvPr id="4" name="Text 2"/>
          <p:cNvSpPr/>
          <p:nvPr/>
        </p:nvSpPr>
        <p:spPr>
          <a:xfrm>
            <a:off x="3402449" y="1152049"/>
            <a:ext cx="5279588"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DATASET CREATION &amp; ANGLE ANALYSIS</a:t>
            </a:r>
            <a:endParaRPr lang="en-US" sz="1950" dirty="0"/>
          </a:p>
        </p:txBody>
      </p:sp>
      <p:sp>
        <p:nvSpPr>
          <p:cNvPr id="5" name="Text 3"/>
          <p:cNvSpPr/>
          <p:nvPr/>
        </p:nvSpPr>
        <p:spPr>
          <a:xfrm>
            <a:off x="3402449" y="1536621"/>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A comprehensive labelled dataset comprising </a:t>
            </a:r>
            <a:r>
              <a:rPr lang="en-US" sz="750" b="1" dirty="0">
                <a:solidFill>
                  <a:srgbClr val="55575A"/>
                </a:solidFill>
                <a:latin typeface="Roboto Condensed" pitchFamily="34" charset="0"/>
                <a:ea typeface="Roboto Condensed" pitchFamily="34" charset="-122"/>
                <a:cs typeface="Roboto Condensed" pitchFamily="34" charset="-120"/>
              </a:rPr>
              <a:t>thousands of frames</a:t>
            </a:r>
            <a:r>
              <a:rPr lang="en-US" sz="750" dirty="0">
                <a:solidFill>
                  <a:srgbClr val="55575A"/>
                </a:solidFill>
                <a:latin typeface="Roboto Condensed" pitchFamily="34" charset="0"/>
                <a:ea typeface="Roboto Condensed" pitchFamily="34" charset="-122"/>
                <a:cs typeface="Roboto Condensed" pitchFamily="34" charset="-120"/>
              </a:rPr>
              <a:t> across multiple gym exercises was successfully constructed. Each frame was annotated with MediaPipe pose landmarks and classified as </a:t>
            </a:r>
            <a:r>
              <a:rPr lang="en-US" sz="750" b="1" dirty="0">
                <a:solidFill>
                  <a:srgbClr val="55575A"/>
                </a:solidFill>
                <a:latin typeface="Roboto Condensed" pitchFamily="34" charset="0"/>
                <a:ea typeface="Roboto Condensed" pitchFamily="34" charset="-122"/>
                <a:cs typeface="Roboto Condensed" pitchFamily="34" charset="-120"/>
              </a:rPr>
              <a:t>correct</a:t>
            </a:r>
            <a:r>
              <a:rPr lang="en-US" sz="750" dirty="0">
                <a:solidFill>
                  <a:srgbClr val="55575A"/>
                </a:solidFill>
                <a:latin typeface="Roboto Condensed" pitchFamily="34" charset="0"/>
                <a:ea typeface="Roboto Condensed" pitchFamily="34" charset="-122"/>
                <a:cs typeface="Roboto Condensed" pitchFamily="34" charset="-120"/>
              </a:rPr>
              <a:t> or </a:t>
            </a:r>
            <a:r>
              <a:rPr lang="en-US" sz="750" b="1" dirty="0">
                <a:solidFill>
                  <a:srgbClr val="55575A"/>
                </a:solidFill>
                <a:latin typeface="Roboto Condensed" pitchFamily="34" charset="0"/>
                <a:ea typeface="Roboto Condensed" pitchFamily="34" charset="-122"/>
                <a:cs typeface="Roboto Condensed" pitchFamily="34" charset="-120"/>
              </a:rPr>
              <a:t>incorrect</a:t>
            </a:r>
            <a:r>
              <a:rPr lang="en-US" sz="750" dirty="0">
                <a:solidFill>
                  <a:srgbClr val="55575A"/>
                </a:solidFill>
                <a:latin typeface="Roboto Condensed" pitchFamily="34" charset="0"/>
                <a:ea typeface="Roboto Condensed" pitchFamily="34" charset="-122"/>
                <a:cs typeface="Roboto Condensed" pitchFamily="34" charset="-120"/>
              </a:rPr>
              <a:t> form. The chart below illustrates mean joint angles across three key exercises, highlighting measurable angular differences between form categories.</a:t>
            </a:r>
            <a:endParaRPr lang="en-US" sz="750" dirty="0"/>
          </a:p>
        </p:txBody>
      </p:sp>
      <p:sp>
        <p:nvSpPr>
          <p:cNvPr id="6" name="Shape 4"/>
          <p:cNvSpPr/>
          <p:nvPr/>
        </p:nvSpPr>
        <p:spPr>
          <a:xfrm>
            <a:off x="3402449" y="1830229"/>
            <a:ext cx="7825502" cy="983813"/>
          </a:xfrm>
          <a:prstGeom prst="roundRect">
            <a:avLst>
              <a:gd name="adj" fmla="val 1513"/>
            </a:avLst>
          </a:prstGeom>
          <a:noFill/>
          <a:ln w="7620">
            <a:solidFill>
              <a:srgbClr val="000000">
                <a:alpha val="8000"/>
              </a:srgbClr>
            </a:solidFill>
            <a:prstDash val="solid"/>
          </a:ln>
        </p:spPr>
      </p:sp>
      <p:sp>
        <p:nvSpPr>
          <p:cNvPr id="7" name="Shape 5"/>
          <p:cNvSpPr/>
          <p:nvPr/>
        </p:nvSpPr>
        <p:spPr>
          <a:xfrm>
            <a:off x="3410069" y="1837849"/>
            <a:ext cx="7810262" cy="193715"/>
          </a:xfrm>
          <a:prstGeom prst="rect">
            <a:avLst/>
          </a:prstGeom>
          <a:solidFill>
            <a:srgbClr val="FFFFFF">
              <a:alpha val="4000"/>
            </a:srgbClr>
          </a:solidFill>
          <a:ln/>
        </p:spPr>
      </p:sp>
      <p:sp>
        <p:nvSpPr>
          <p:cNvPr id="8" name="Text 6"/>
          <p:cNvSpPr/>
          <p:nvPr/>
        </p:nvSpPr>
        <p:spPr>
          <a:xfrm>
            <a:off x="3509605" y="1875234"/>
            <a:ext cx="1984653" cy="118943"/>
          </a:xfrm>
          <a:prstGeom prst="rect">
            <a:avLst/>
          </a:prstGeom>
          <a:noFill/>
          <a:ln/>
        </p:spPr>
        <p:txBody>
          <a:bodyPr wrap="none" lIns="0" tIns="0" rIns="0" bIns="0" rtlCol="0" anchor="t"/>
          <a:lstStyle/>
          <a:p>
            <a:pPr marL="0" indent="0" algn="l">
              <a:lnSpc>
                <a:spcPts val="900"/>
              </a:lnSpc>
              <a:buNone/>
            </a:pPr>
            <a:r>
              <a:rPr lang="en-US" sz="750" b="1" dirty="0">
                <a:solidFill>
                  <a:srgbClr val="55575A"/>
                </a:solidFill>
                <a:latin typeface="Roboto Condensed" pitchFamily="34" charset="0"/>
                <a:ea typeface="Roboto Condensed" pitchFamily="34" charset="-122"/>
                <a:cs typeface="Roboto Condensed" pitchFamily="34" charset="-120"/>
              </a:rPr>
              <a:t>Exercise</a:t>
            </a:r>
            <a:endParaRPr lang="en-US" sz="750" dirty="0"/>
          </a:p>
        </p:txBody>
      </p:sp>
      <p:sp>
        <p:nvSpPr>
          <p:cNvPr id="9" name="Text 7"/>
          <p:cNvSpPr/>
          <p:nvPr/>
        </p:nvSpPr>
        <p:spPr>
          <a:xfrm>
            <a:off x="5700236" y="1875234"/>
            <a:ext cx="1199793" cy="118943"/>
          </a:xfrm>
          <a:prstGeom prst="rect">
            <a:avLst/>
          </a:prstGeom>
          <a:noFill/>
          <a:ln/>
        </p:spPr>
        <p:txBody>
          <a:bodyPr wrap="none" lIns="0" tIns="0" rIns="0" bIns="0" rtlCol="0" anchor="t"/>
          <a:lstStyle/>
          <a:p>
            <a:pPr marL="0" indent="0" algn="l">
              <a:lnSpc>
                <a:spcPts val="900"/>
              </a:lnSpc>
              <a:buNone/>
            </a:pPr>
            <a:r>
              <a:rPr lang="en-US" sz="750" b="1" dirty="0">
                <a:solidFill>
                  <a:srgbClr val="55575A"/>
                </a:solidFill>
                <a:latin typeface="Roboto Condensed" pitchFamily="34" charset="0"/>
                <a:ea typeface="Roboto Condensed" pitchFamily="34" charset="-122"/>
                <a:cs typeface="Roboto Condensed" pitchFamily="34" charset="-120"/>
              </a:rPr>
              <a:t>Joint</a:t>
            </a:r>
            <a:endParaRPr lang="en-US" sz="750" dirty="0"/>
          </a:p>
        </p:txBody>
      </p:sp>
      <p:sp>
        <p:nvSpPr>
          <p:cNvPr id="10" name="Text 8"/>
          <p:cNvSpPr/>
          <p:nvPr/>
        </p:nvSpPr>
        <p:spPr>
          <a:xfrm>
            <a:off x="7106007" y="1875234"/>
            <a:ext cx="1199793" cy="118943"/>
          </a:xfrm>
          <a:prstGeom prst="rect">
            <a:avLst/>
          </a:prstGeom>
          <a:noFill/>
          <a:ln/>
        </p:spPr>
        <p:txBody>
          <a:bodyPr wrap="none" lIns="0" tIns="0" rIns="0" bIns="0" rtlCol="0" anchor="t"/>
          <a:lstStyle/>
          <a:p>
            <a:pPr marL="0" indent="0" algn="l">
              <a:lnSpc>
                <a:spcPts val="900"/>
              </a:lnSpc>
              <a:buNone/>
            </a:pPr>
            <a:r>
              <a:rPr lang="en-US" sz="750" b="1" dirty="0">
                <a:solidFill>
                  <a:srgbClr val="55575A"/>
                </a:solidFill>
                <a:latin typeface="Roboto Condensed" pitchFamily="34" charset="0"/>
                <a:ea typeface="Roboto Condensed" pitchFamily="34" charset="-122"/>
                <a:cs typeface="Roboto Condensed" pitchFamily="34" charset="-120"/>
              </a:rPr>
              <a:t>Correct (°)</a:t>
            </a:r>
            <a:endParaRPr lang="en-US" sz="750" dirty="0"/>
          </a:p>
        </p:txBody>
      </p:sp>
      <p:sp>
        <p:nvSpPr>
          <p:cNvPr id="11" name="Text 9"/>
          <p:cNvSpPr/>
          <p:nvPr/>
        </p:nvSpPr>
        <p:spPr>
          <a:xfrm>
            <a:off x="8511778" y="1875234"/>
            <a:ext cx="1199793" cy="118943"/>
          </a:xfrm>
          <a:prstGeom prst="rect">
            <a:avLst/>
          </a:prstGeom>
          <a:noFill/>
          <a:ln/>
        </p:spPr>
        <p:txBody>
          <a:bodyPr wrap="none" lIns="0" tIns="0" rIns="0" bIns="0" rtlCol="0" anchor="t"/>
          <a:lstStyle/>
          <a:p>
            <a:pPr marL="0" indent="0" algn="l">
              <a:lnSpc>
                <a:spcPts val="900"/>
              </a:lnSpc>
              <a:buNone/>
            </a:pPr>
            <a:r>
              <a:rPr lang="en-US" sz="750" b="1" dirty="0">
                <a:solidFill>
                  <a:srgbClr val="55575A"/>
                </a:solidFill>
                <a:latin typeface="Roboto Condensed" pitchFamily="34" charset="0"/>
                <a:ea typeface="Roboto Condensed" pitchFamily="34" charset="-122"/>
                <a:cs typeface="Roboto Condensed" pitchFamily="34" charset="-120"/>
              </a:rPr>
              <a:t>Incorrect (°)</a:t>
            </a:r>
            <a:endParaRPr lang="en-US" sz="750" dirty="0"/>
          </a:p>
        </p:txBody>
      </p:sp>
      <p:sp>
        <p:nvSpPr>
          <p:cNvPr id="12" name="Text 10"/>
          <p:cNvSpPr/>
          <p:nvPr/>
        </p:nvSpPr>
        <p:spPr>
          <a:xfrm>
            <a:off x="9917549" y="1875234"/>
            <a:ext cx="1203603" cy="118943"/>
          </a:xfrm>
          <a:prstGeom prst="rect">
            <a:avLst/>
          </a:prstGeom>
          <a:noFill/>
          <a:ln/>
        </p:spPr>
        <p:txBody>
          <a:bodyPr wrap="none" lIns="0" tIns="0" rIns="0" bIns="0" rtlCol="0" anchor="t"/>
          <a:lstStyle/>
          <a:p>
            <a:pPr marL="0" indent="0" algn="l">
              <a:lnSpc>
                <a:spcPts val="900"/>
              </a:lnSpc>
              <a:buNone/>
            </a:pPr>
            <a:r>
              <a:rPr lang="en-US" sz="750" b="1" dirty="0">
                <a:solidFill>
                  <a:srgbClr val="55575A"/>
                </a:solidFill>
                <a:latin typeface="Roboto Condensed" pitchFamily="34" charset="0"/>
                <a:ea typeface="Roboto Condensed" pitchFamily="34" charset="-122"/>
                <a:cs typeface="Roboto Condensed" pitchFamily="34" charset="-120"/>
              </a:rPr>
              <a:t>Delta (°)</a:t>
            </a:r>
            <a:endParaRPr lang="en-US" sz="750" dirty="0"/>
          </a:p>
        </p:txBody>
      </p:sp>
      <p:sp>
        <p:nvSpPr>
          <p:cNvPr id="13" name="Shape 11"/>
          <p:cNvSpPr/>
          <p:nvPr/>
        </p:nvSpPr>
        <p:spPr>
          <a:xfrm>
            <a:off x="3410069" y="2031563"/>
            <a:ext cx="7810262" cy="193715"/>
          </a:xfrm>
          <a:prstGeom prst="rect">
            <a:avLst/>
          </a:prstGeom>
          <a:solidFill>
            <a:srgbClr val="000000">
              <a:alpha val="4000"/>
            </a:srgbClr>
          </a:solidFill>
          <a:ln/>
        </p:spPr>
      </p:sp>
      <p:sp>
        <p:nvSpPr>
          <p:cNvPr id="14" name="Text 12"/>
          <p:cNvSpPr/>
          <p:nvPr/>
        </p:nvSpPr>
        <p:spPr>
          <a:xfrm>
            <a:off x="3509605" y="2068949"/>
            <a:ext cx="198465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Bicep Curl</a:t>
            </a:r>
            <a:endParaRPr lang="en-US" sz="750" dirty="0"/>
          </a:p>
        </p:txBody>
      </p:sp>
      <p:sp>
        <p:nvSpPr>
          <p:cNvPr id="15" name="Text 13"/>
          <p:cNvSpPr/>
          <p:nvPr/>
        </p:nvSpPr>
        <p:spPr>
          <a:xfrm>
            <a:off x="5700236" y="2068949"/>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Elbow Flexion</a:t>
            </a:r>
            <a:endParaRPr lang="en-US" sz="750" dirty="0"/>
          </a:p>
        </p:txBody>
      </p:sp>
      <p:sp>
        <p:nvSpPr>
          <p:cNvPr id="16" name="Text 14"/>
          <p:cNvSpPr/>
          <p:nvPr/>
        </p:nvSpPr>
        <p:spPr>
          <a:xfrm>
            <a:off x="7106007" y="2068949"/>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160</a:t>
            </a:r>
            <a:endParaRPr lang="en-US" sz="750" dirty="0"/>
          </a:p>
        </p:txBody>
      </p:sp>
      <p:sp>
        <p:nvSpPr>
          <p:cNvPr id="17" name="Text 15"/>
          <p:cNvSpPr/>
          <p:nvPr/>
        </p:nvSpPr>
        <p:spPr>
          <a:xfrm>
            <a:off x="8511778" y="2068949"/>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95</a:t>
            </a:r>
            <a:endParaRPr lang="en-US" sz="750" dirty="0"/>
          </a:p>
        </p:txBody>
      </p:sp>
      <p:sp>
        <p:nvSpPr>
          <p:cNvPr id="18" name="Text 16"/>
          <p:cNvSpPr/>
          <p:nvPr/>
        </p:nvSpPr>
        <p:spPr>
          <a:xfrm>
            <a:off x="9917549" y="2068949"/>
            <a:ext cx="120360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65</a:t>
            </a:r>
            <a:endParaRPr lang="en-US" sz="750" dirty="0"/>
          </a:p>
        </p:txBody>
      </p:sp>
      <p:sp>
        <p:nvSpPr>
          <p:cNvPr id="19" name="Shape 17"/>
          <p:cNvSpPr/>
          <p:nvPr/>
        </p:nvSpPr>
        <p:spPr>
          <a:xfrm>
            <a:off x="3410069" y="2225278"/>
            <a:ext cx="7810262" cy="193715"/>
          </a:xfrm>
          <a:prstGeom prst="rect">
            <a:avLst/>
          </a:prstGeom>
          <a:solidFill>
            <a:srgbClr val="FFFFFF">
              <a:alpha val="4000"/>
            </a:srgbClr>
          </a:solidFill>
          <a:ln/>
        </p:spPr>
      </p:sp>
      <p:sp>
        <p:nvSpPr>
          <p:cNvPr id="20" name="Text 18"/>
          <p:cNvSpPr/>
          <p:nvPr/>
        </p:nvSpPr>
        <p:spPr>
          <a:xfrm>
            <a:off x="3509605" y="2262664"/>
            <a:ext cx="198465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Squat</a:t>
            </a:r>
            <a:endParaRPr lang="en-US" sz="750" dirty="0"/>
          </a:p>
        </p:txBody>
      </p:sp>
      <p:sp>
        <p:nvSpPr>
          <p:cNvPr id="21" name="Text 19"/>
          <p:cNvSpPr/>
          <p:nvPr/>
        </p:nvSpPr>
        <p:spPr>
          <a:xfrm>
            <a:off x="5700236" y="2262664"/>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Knee Flexion</a:t>
            </a:r>
            <a:endParaRPr lang="en-US" sz="750" dirty="0"/>
          </a:p>
        </p:txBody>
      </p:sp>
      <p:sp>
        <p:nvSpPr>
          <p:cNvPr id="22" name="Text 20"/>
          <p:cNvSpPr/>
          <p:nvPr/>
        </p:nvSpPr>
        <p:spPr>
          <a:xfrm>
            <a:off x="7106007" y="2262664"/>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110</a:t>
            </a:r>
            <a:endParaRPr lang="en-US" sz="750" dirty="0"/>
          </a:p>
        </p:txBody>
      </p:sp>
      <p:sp>
        <p:nvSpPr>
          <p:cNvPr id="23" name="Text 21"/>
          <p:cNvSpPr/>
          <p:nvPr/>
        </p:nvSpPr>
        <p:spPr>
          <a:xfrm>
            <a:off x="8511778" y="2262664"/>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60</a:t>
            </a:r>
            <a:endParaRPr lang="en-US" sz="750" dirty="0"/>
          </a:p>
        </p:txBody>
      </p:sp>
      <p:sp>
        <p:nvSpPr>
          <p:cNvPr id="24" name="Text 22"/>
          <p:cNvSpPr/>
          <p:nvPr/>
        </p:nvSpPr>
        <p:spPr>
          <a:xfrm>
            <a:off x="9917549" y="2262664"/>
            <a:ext cx="120360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50</a:t>
            </a:r>
            <a:endParaRPr lang="en-US" sz="750" dirty="0"/>
          </a:p>
        </p:txBody>
      </p:sp>
      <p:sp>
        <p:nvSpPr>
          <p:cNvPr id="25" name="Shape 23"/>
          <p:cNvSpPr/>
          <p:nvPr/>
        </p:nvSpPr>
        <p:spPr>
          <a:xfrm>
            <a:off x="3410069" y="2418993"/>
            <a:ext cx="7810262" cy="193715"/>
          </a:xfrm>
          <a:prstGeom prst="rect">
            <a:avLst/>
          </a:prstGeom>
          <a:solidFill>
            <a:srgbClr val="000000">
              <a:alpha val="4000"/>
            </a:srgbClr>
          </a:solidFill>
          <a:ln/>
        </p:spPr>
      </p:sp>
      <p:sp>
        <p:nvSpPr>
          <p:cNvPr id="26" name="Text 24"/>
          <p:cNvSpPr/>
          <p:nvPr/>
        </p:nvSpPr>
        <p:spPr>
          <a:xfrm>
            <a:off x="3509605" y="2456378"/>
            <a:ext cx="198465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Overhead Press</a:t>
            </a:r>
            <a:endParaRPr lang="en-US" sz="750" dirty="0"/>
          </a:p>
        </p:txBody>
      </p:sp>
      <p:sp>
        <p:nvSpPr>
          <p:cNvPr id="27" name="Text 25"/>
          <p:cNvSpPr/>
          <p:nvPr/>
        </p:nvSpPr>
        <p:spPr>
          <a:xfrm>
            <a:off x="5700236" y="2456378"/>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Shoulder Abduction</a:t>
            </a:r>
            <a:endParaRPr lang="en-US" sz="750" dirty="0"/>
          </a:p>
        </p:txBody>
      </p:sp>
      <p:sp>
        <p:nvSpPr>
          <p:cNvPr id="28" name="Text 26"/>
          <p:cNvSpPr/>
          <p:nvPr/>
        </p:nvSpPr>
        <p:spPr>
          <a:xfrm>
            <a:off x="7106007" y="2456378"/>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175</a:t>
            </a:r>
            <a:endParaRPr lang="en-US" sz="750" dirty="0"/>
          </a:p>
        </p:txBody>
      </p:sp>
      <p:sp>
        <p:nvSpPr>
          <p:cNvPr id="29" name="Text 27"/>
          <p:cNvSpPr/>
          <p:nvPr/>
        </p:nvSpPr>
        <p:spPr>
          <a:xfrm>
            <a:off x="8511778" y="2456378"/>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120</a:t>
            </a:r>
            <a:endParaRPr lang="en-US" sz="750" dirty="0"/>
          </a:p>
        </p:txBody>
      </p:sp>
      <p:sp>
        <p:nvSpPr>
          <p:cNvPr id="30" name="Text 28"/>
          <p:cNvSpPr/>
          <p:nvPr/>
        </p:nvSpPr>
        <p:spPr>
          <a:xfrm>
            <a:off x="9917549" y="2456378"/>
            <a:ext cx="120360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55</a:t>
            </a:r>
            <a:endParaRPr lang="en-US" sz="750" dirty="0"/>
          </a:p>
        </p:txBody>
      </p:sp>
      <p:sp>
        <p:nvSpPr>
          <p:cNvPr id="31" name="Shape 29"/>
          <p:cNvSpPr/>
          <p:nvPr/>
        </p:nvSpPr>
        <p:spPr>
          <a:xfrm>
            <a:off x="3410069" y="2612708"/>
            <a:ext cx="7810262" cy="193715"/>
          </a:xfrm>
          <a:prstGeom prst="rect">
            <a:avLst/>
          </a:prstGeom>
          <a:solidFill>
            <a:srgbClr val="FFFFFF">
              <a:alpha val="4000"/>
            </a:srgbClr>
          </a:solidFill>
          <a:ln/>
        </p:spPr>
      </p:sp>
      <p:sp>
        <p:nvSpPr>
          <p:cNvPr id="32" name="Text 30"/>
          <p:cNvSpPr/>
          <p:nvPr/>
        </p:nvSpPr>
        <p:spPr>
          <a:xfrm>
            <a:off x="3509605" y="2650093"/>
            <a:ext cx="198465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Deadlift</a:t>
            </a:r>
            <a:endParaRPr lang="en-US" sz="750" dirty="0"/>
          </a:p>
        </p:txBody>
      </p:sp>
      <p:sp>
        <p:nvSpPr>
          <p:cNvPr id="33" name="Text 31"/>
          <p:cNvSpPr/>
          <p:nvPr/>
        </p:nvSpPr>
        <p:spPr>
          <a:xfrm>
            <a:off x="5700236" y="2650093"/>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Hip Hinge</a:t>
            </a:r>
            <a:endParaRPr lang="en-US" sz="750" dirty="0"/>
          </a:p>
        </p:txBody>
      </p:sp>
      <p:sp>
        <p:nvSpPr>
          <p:cNvPr id="34" name="Text 32"/>
          <p:cNvSpPr/>
          <p:nvPr/>
        </p:nvSpPr>
        <p:spPr>
          <a:xfrm>
            <a:off x="7106007" y="2650093"/>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155</a:t>
            </a:r>
            <a:endParaRPr lang="en-US" sz="750" dirty="0"/>
          </a:p>
        </p:txBody>
      </p:sp>
      <p:sp>
        <p:nvSpPr>
          <p:cNvPr id="35" name="Text 33"/>
          <p:cNvSpPr/>
          <p:nvPr/>
        </p:nvSpPr>
        <p:spPr>
          <a:xfrm>
            <a:off x="8511778" y="2650093"/>
            <a:ext cx="119979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100</a:t>
            </a:r>
            <a:endParaRPr lang="en-US" sz="750" dirty="0"/>
          </a:p>
        </p:txBody>
      </p:sp>
      <p:sp>
        <p:nvSpPr>
          <p:cNvPr id="36" name="Text 34"/>
          <p:cNvSpPr/>
          <p:nvPr/>
        </p:nvSpPr>
        <p:spPr>
          <a:xfrm>
            <a:off x="9917549" y="2650093"/>
            <a:ext cx="1203603" cy="118943"/>
          </a:xfrm>
          <a:prstGeom prst="rect">
            <a:avLst/>
          </a:prstGeom>
          <a:noFill/>
          <a:ln/>
        </p:spPr>
        <p:txBody>
          <a:bodyPr wrap="none" lIns="0" tIns="0" rIns="0" bIns="0" rtlCol="0" anchor="t"/>
          <a:lstStyle/>
          <a:p>
            <a:pPr marL="0" indent="0" algn="l">
              <a:lnSpc>
                <a:spcPts val="900"/>
              </a:lnSpc>
              <a:buNone/>
            </a:pPr>
            <a:r>
              <a:rPr lang="en-US" sz="750" dirty="0">
                <a:solidFill>
                  <a:srgbClr val="55575A"/>
                </a:solidFill>
                <a:latin typeface="Roboto Condensed" pitchFamily="34" charset="0"/>
                <a:ea typeface="Roboto Condensed" pitchFamily="34" charset="-122"/>
                <a:cs typeface="Roboto Condensed" pitchFamily="34" charset="-120"/>
              </a:rPr>
              <a:t>55</a:t>
            </a:r>
            <a:endParaRPr lang="en-US" sz="750" dirty="0"/>
          </a:p>
        </p:txBody>
      </p:sp>
      <p:sp>
        <p:nvSpPr>
          <p:cNvPr id="37" name="Shape 35"/>
          <p:cNvSpPr/>
          <p:nvPr/>
        </p:nvSpPr>
        <p:spPr>
          <a:xfrm>
            <a:off x="3402449" y="2869763"/>
            <a:ext cx="2252913" cy="403915"/>
          </a:xfrm>
          <a:prstGeom prst="roundRect">
            <a:avLst>
              <a:gd name="adj" fmla="val 34863"/>
            </a:avLst>
          </a:prstGeom>
          <a:solidFill>
            <a:srgbClr val="FFFFFF">
              <a:alpha val="20000"/>
            </a:srgbClr>
          </a:solidFill>
          <a:ln w="7620">
            <a:solidFill>
              <a:srgbClr val="000000"/>
            </a:solidFill>
            <a:prstDash val="solid"/>
          </a:ln>
        </p:spPr>
      </p:sp>
      <p:pic>
        <p:nvPicPr>
          <p:cNvPr id="38" name="Image 0" descr="preencoded.png"/>
          <p:cNvPicPr>
            <a:picLocks noChangeAspect="1"/>
          </p:cNvPicPr>
          <p:nvPr/>
        </p:nvPicPr>
        <p:blipFill>
          <a:blip r:embed="rId3"/>
          <a:stretch>
            <a:fillRect/>
          </a:stretch>
        </p:blipFill>
        <p:spPr>
          <a:xfrm>
            <a:off x="3532796" y="2958539"/>
            <a:ext cx="226364" cy="226364"/>
          </a:xfrm>
          <a:prstGeom prst="rect">
            <a:avLst/>
          </a:prstGeom>
        </p:spPr>
      </p:pic>
      <p:sp>
        <p:nvSpPr>
          <p:cNvPr id="39" name="Text 36"/>
          <p:cNvSpPr/>
          <p:nvPr/>
        </p:nvSpPr>
        <p:spPr>
          <a:xfrm>
            <a:off x="3834526" y="2924477"/>
            <a:ext cx="1690490" cy="294488"/>
          </a:xfrm>
          <a:prstGeom prst="rect">
            <a:avLst/>
          </a:prstGeom>
          <a:noFill/>
          <a:ln/>
        </p:spPr>
        <p:txBody>
          <a:bodyPr wrap="none" lIns="0" tIns="0" rIns="0" bIns="0" rtlCol="0" anchor="t"/>
          <a:lstStyle/>
          <a:p>
            <a:pPr marL="0" indent="0" algn="l">
              <a:lnSpc>
                <a:spcPts val="1000"/>
              </a:lnSpc>
              <a:buNone/>
            </a:pPr>
            <a:r>
              <a:rPr lang="en-US" sz="750" dirty="0">
                <a:solidFill>
                  <a:srgbClr val="55575A"/>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Correct Form (°)</a:t>
            </a:r>
            <a:endParaRPr lang="en-US" sz="750" dirty="0"/>
          </a:p>
        </p:txBody>
      </p:sp>
      <p:sp>
        <p:nvSpPr>
          <p:cNvPr id="40" name="Shape 37"/>
          <p:cNvSpPr/>
          <p:nvPr/>
        </p:nvSpPr>
        <p:spPr>
          <a:xfrm>
            <a:off x="5792683" y="2869763"/>
            <a:ext cx="2435291" cy="403915"/>
          </a:xfrm>
          <a:prstGeom prst="roundRect">
            <a:avLst>
              <a:gd name="adj" fmla="val 34863"/>
            </a:avLst>
          </a:prstGeom>
          <a:solidFill>
            <a:srgbClr val="FFFFFF">
              <a:alpha val="20000"/>
            </a:srgbClr>
          </a:solidFill>
          <a:ln w="7620">
            <a:solidFill>
              <a:srgbClr val="000000"/>
            </a:solidFill>
            <a:prstDash val="solid"/>
          </a:ln>
        </p:spPr>
      </p:sp>
      <p:pic>
        <p:nvPicPr>
          <p:cNvPr id="41" name="Image 1" descr="preencoded.png"/>
          <p:cNvPicPr>
            <a:picLocks noChangeAspect="1"/>
          </p:cNvPicPr>
          <p:nvPr/>
        </p:nvPicPr>
        <p:blipFill>
          <a:blip r:embed="rId4"/>
          <a:stretch>
            <a:fillRect/>
          </a:stretch>
        </p:blipFill>
        <p:spPr>
          <a:xfrm>
            <a:off x="5923030" y="2958539"/>
            <a:ext cx="226364" cy="226364"/>
          </a:xfrm>
          <a:prstGeom prst="rect">
            <a:avLst/>
          </a:prstGeom>
        </p:spPr>
      </p:pic>
      <p:sp>
        <p:nvSpPr>
          <p:cNvPr id="42" name="Text 38"/>
          <p:cNvSpPr/>
          <p:nvPr/>
        </p:nvSpPr>
        <p:spPr>
          <a:xfrm>
            <a:off x="6224760" y="2924477"/>
            <a:ext cx="1872868" cy="294488"/>
          </a:xfrm>
          <a:prstGeom prst="rect">
            <a:avLst/>
          </a:prstGeom>
          <a:noFill/>
          <a:ln/>
        </p:spPr>
        <p:txBody>
          <a:bodyPr wrap="none" lIns="0" tIns="0" rIns="0" bIns="0" rtlCol="0" anchor="t"/>
          <a:lstStyle/>
          <a:p>
            <a:pPr marL="0" indent="0" algn="l">
              <a:lnSpc>
                <a:spcPts val="1000"/>
              </a:lnSpc>
              <a:buNone/>
            </a:pPr>
            <a:r>
              <a:rPr lang="en-US" sz="750" dirty="0">
                <a:solidFill>
                  <a:srgbClr val="55575A"/>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Incorrect Form (°)</a:t>
            </a:r>
            <a:endParaRPr lang="en-US" sz="750" dirty="0"/>
          </a:p>
        </p:txBody>
      </p:sp>
      <p:pic>
        <p:nvPicPr>
          <p:cNvPr id="43" name="Image 2" descr="preencoded.png"/>
          <p:cNvPicPr>
            <a:picLocks noChangeAspect="1"/>
          </p:cNvPicPr>
          <p:nvPr/>
        </p:nvPicPr>
        <p:blipFill>
          <a:blip r:embed="rId5"/>
          <a:stretch>
            <a:fillRect/>
          </a:stretch>
        </p:blipFill>
        <p:spPr>
          <a:xfrm>
            <a:off x="4359965" y="2907879"/>
            <a:ext cx="10558328" cy="4977164"/>
          </a:xfrm>
          <a:prstGeom prst="rect">
            <a:avLst/>
          </a:prstGeom>
        </p:spPr>
      </p:pic>
      <p:pic>
        <p:nvPicPr>
          <p:cNvPr id="44" name="Picture 43">
            <a:extLst>
              <a:ext uri="{FF2B5EF4-FFF2-40B4-BE49-F238E27FC236}">
                <a16:creationId xmlns:a16="http://schemas.microsoft.com/office/drawing/2014/main" id="{E004D52D-6176-7A49-C733-0028F94810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45" name="Footer Placeholder 3">
            <a:extLst>
              <a:ext uri="{FF2B5EF4-FFF2-40B4-BE49-F238E27FC236}">
                <a16:creationId xmlns:a16="http://schemas.microsoft.com/office/drawing/2014/main" id="{8497D370-8535-5E89-B34C-8CAE486DE6BC}"/>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590318"/>
            <a:ext cx="1027867" cy="373142"/>
          </a:xfrm>
          <a:prstGeom prst="roundRect">
            <a:avLst>
              <a:gd name="adj" fmla="val 6383"/>
            </a:avLst>
          </a:prstGeom>
          <a:solidFill>
            <a:srgbClr val="E7E7E4"/>
          </a:solidFill>
          <a:ln/>
        </p:spPr>
      </p:sp>
      <p:sp>
        <p:nvSpPr>
          <p:cNvPr id="3" name="Text 1"/>
          <p:cNvSpPr/>
          <p:nvPr/>
        </p:nvSpPr>
        <p:spPr>
          <a:xfrm>
            <a:off x="912852" y="1649849"/>
            <a:ext cx="789742"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DISCUSSION</a:t>
            </a:r>
            <a:endParaRPr lang="en-US" sz="1250" dirty="0"/>
          </a:p>
        </p:txBody>
      </p:sp>
      <p:sp>
        <p:nvSpPr>
          <p:cNvPr id="4" name="Text 2"/>
          <p:cNvSpPr/>
          <p:nvPr/>
        </p:nvSpPr>
        <p:spPr>
          <a:xfrm>
            <a:off x="793790" y="2042755"/>
            <a:ext cx="8302347"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INTERPRETING THE FINDINGS</a:t>
            </a:r>
            <a:endParaRPr lang="en-US" sz="3900" dirty="0"/>
          </a:p>
        </p:txBody>
      </p:sp>
      <p:sp>
        <p:nvSpPr>
          <p:cNvPr id="5" name="Text 3"/>
          <p:cNvSpPr/>
          <p:nvPr/>
        </p:nvSpPr>
        <p:spPr>
          <a:xfrm>
            <a:off x="793790" y="2960489"/>
            <a:ext cx="13042821" cy="635079"/>
          </a:xfrm>
          <a:prstGeom prst="rect">
            <a:avLst/>
          </a:prstGeom>
          <a:noFill/>
          <a:ln/>
        </p:spPr>
        <p:txBody>
          <a:bodyPr wrap="square" lIns="0" tIns="0" rIns="0" bIns="0" rtlCol="0" anchor="t"/>
          <a:lstStyle/>
          <a:p>
            <a:pPr marL="0" indent="0" algn="l">
              <a:lnSpc>
                <a:spcPts val="2500"/>
              </a:lnSpc>
              <a:buNone/>
            </a:pPr>
            <a:r>
              <a:rPr lang="en-US" sz="1600" dirty="0">
                <a:solidFill>
                  <a:srgbClr val="55575A"/>
                </a:solidFill>
                <a:latin typeface="Roboto Condensed" pitchFamily="34" charset="0"/>
                <a:ea typeface="Roboto Condensed" pitchFamily="34" charset="-122"/>
                <a:cs typeface="Roboto Condensed" pitchFamily="34" charset="-120"/>
              </a:rPr>
              <a:t>Extracted joint angles </a:t>
            </a:r>
            <a:r>
              <a:rPr lang="en-US" sz="1600" b="1" dirty="0">
                <a:solidFill>
                  <a:srgbClr val="55575A"/>
                </a:solidFill>
                <a:latin typeface="Roboto Condensed" pitchFamily="34" charset="0"/>
                <a:ea typeface="Roboto Condensed" pitchFamily="34" charset="-122"/>
                <a:cs typeface="Roboto Condensed" pitchFamily="34" charset="-120"/>
              </a:rPr>
              <a:t>effectively distinguish</a:t>
            </a:r>
            <a:r>
              <a:rPr lang="en-US" sz="1600" dirty="0">
                <a:solidFill>
                  <a:srgbClr val="55575A"/>
                </a:solidFill>
                <a:latin typeface="Roboto Condensed" pitchFamily="34" charset="0"/>
                <a:ea typeface="Roboto Condensed" pitchFamily="34" charset="-122"/>
                <a:cs typeface="Roboto Condensed" pitchFamily="34" charset="-120"/>
              </a:rPr>
              <a:t> correct from incorrect form, validating the core hypothesis. Consistent angular thresholds emerged across exercises, suggesting rule-based classification is viable for real-time systems.</a:t>
            </a:r>
            <a:endParaRPr lang="en-US" sz="1600" dirty="0"/>
          </a:p>
        </p:txBody>
      </p:sp>
      <p:sp>
        <p:nvSpPr>
          <p:cNvPr id="6" name="Shape 4"/>
          <p:cNvSpPr/>
          <p:nvPr/>
        </p:nvSpPr>
        <p:spPr>
          <a:xfrm>
            <a:off x="650915" y="3818811"/>
            <a:ext cx="6565106" cy="2820353"/>
          </a:xfrm>
          <a:prstGeom prst="roundRect">
            <a:avLst>
              <a:gd name="adj" fmla="val 1056"/>
            </a:avLst>
          </a:prstGeom>
          <a:solidFill>
            <a:srgbClr val="1E1E1A"/>
          </a:solidFill>
          <a:ln/>
        </p:spPr>
      </p:sp>
      <p:sp>
        <p:nvSpPr>
          <p:cNvPr id="7" name="Text 5"/>
          <p:cNvSpPr/>
          <p:nvPr/>
        </p:nvSpPr>
        <p:spPr>
          <a:xfrm>
            <a:off x="849273" y="4017169"/>
            <a:ext cx="286952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Hubot Sans Bold" pitchFamily="34" charset="0"/>
                <a:ea typeface="Hubot Sans Bold" pitchFamily="34" charset="-122"/>
                <a:cs typeface="Hubot Sans Bold" pitchFamily="34" charset="-120"/>
              </a:rPr>
              <a:t>EXPECTED FINDINGS</a:t>
            </a:r>
            <a:endParaRPr lang="en-US" sz="1950" dirty="0"/>
          </a:p>
        </p:txBody>
      </p:sp>
      <p:sp>
        <p:nvSpPr>
          <p:cNvPr id="8" name="Text 6"/>
          <p:cNvSpPr/>
          <p:nvPr/>
        </p:nvSpPr>
        <p:spPr>
          <a:xfrm>
            <a:off x="849273" y="4525685"/>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Condensed" pitchFamily="34" charset="0"/>
                <a:ea typeface="Roboto Condensed" pitchFamily="34" charset="-122"/>
                <a:cs typeface="Roboto Condensed" pitchFamily="34" charset="-120"/>
              </a:rPr>
              <a:t>Angular thresholds aligned with established biomechanical norms — squats required ~110° knee flexion; overhead presses demanded near-full shoulder abduction (~175°).</a:t>
            </a:r>
            <a:endParaRPr lang="en-US" sz="1550" dirty="0"/>
          </a:p>
        </p:txBody>
      </p:sp>
      <p:sp>
        <p:nvSpPr>
          <p:cNvPr id="9" name="Text 7"/>
          <p:cNvSpPr/>
          <p:nvPr/>
        </p:nvSpPr>
        <p:spPr>
          <a:xfrm>
            <a:off x="7564874" y="4017169"/>
            <a:ext cx="3244453" cy="310158"/>
          </a:xfrm>
          <a:prstGeom prst="rect">
            <a:avLst/>
          </a:prstGeom>
          <a:noFill/>
          <a:ln/>
        </p:spPr>
        <p:txBody>
          <a:bodyPr wrap="none" lIns="0" tIns="0" rIns="0" bIns="0" rtlCol="0" anchor="t"/>
          <a:lstStyle/>
          <a:p>
            <a:pPr marL="0" indent="0" algn="l">
              <a:lnSpc>
                <a:spcPts val="2400"/>
              </a:lnSpc>
              <a:buNone/>
            </a:pPr>
            <a:r>
              <a:rPr lang="en-US" sz="1950" b="1" dirty="0">
                <a:solidFill>
                  <a:srgbClr val="0C0D0F"/>
                </a:solidFill>
                <a:latin typeface="Hubot Sans Bold" pitchFamily="34" charset="0"/>
                <a:ea typeface="Hubot Sans Bold" pitchFamily="34" charset="-122"/>
                <a:cs typeface="Hubot Sans Bold" pitchFamily="34" charset="-120"/>
              </a:rPr>
              <a:t>UNEXPECTED INSIGHTS</a:t>
            </a:r>
            <a:endParaRPr lang="en-US" sz="1950" dirty="0"/>
          </a:p>
        </p:txBody>
      </p:sp>
      <p:sp>
        <p:nvSpPr>
          <p:cNvPr id="10" name="Text 8"/>
          <p:cNvSpPr/>
          <p:nvPr/>
        </p:nvSpPr>
        <p:spPr>
          <a:xfrm>
            <a:off x="7564874" y="4525685"/>
            <a:ext cx="6279356" cy="2044065"/>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Some incorrect samples showed </a:t>
            </a:r>
            <a:r>
              <a:rPr lang="en-US" sz="1550" b="1" dirty="0">
                <a:solidFill>
                  <a:srgbClr val="55575A"/>
                </a:solidFill>
                <a:latin typeface="Roboto Condensed" pitchFamily="34" charset="0"/>
                <a:ea typeface="Roboto Condensed" pitchFamily="34" charset="-122"/>
                <a:cs typeface="Roboto Condensed" pitchFamily="34" charset="-120"/>
              </a:rPr>
              <a:t>near-correct angles</a:t>
            </a:r>
            <a:r>
              <a:rPr lang="en-US" sz="1550" dirty="0">
                <a:solidFill>
                  <a:srgbClr val="55575A"/>
                </a:solidFill>
                <a:latin typeface="Roboto Condensed" pitchFamily="34" charset="0"/>
                <a:ea typeface="Roboto Condensed" pitchFamily="34" charset="-122"/>
                <a:cs typeface="Roboto Condensed" pitchFamily="34" charset="-120"/>
              </a:rPr>
              <a:t> yet failed on temporal consistency, suggesting </a:t>
            </a:r>
            <a:r>
              <a:rPr lang="en-US" sz="1550" b="1" dirty="0">
                <a:solidFill>
                  <a:srgbClr val="55575A"/>
                </a:solidFill>
                <a:latin typeface="Roboto Condensed" pitchFamily="34" charset="0"/>
                <a:ea typeface="Roboto Condensed" pitchFamily="34" charset="-122"/>
                <a:cs typeface="Roboto Condensed" pitchFamily="34" charset="-120"/>
              </a:rPr>
              <a:t>phase-aware analysis</a:t>
            </a:r>
            <a:r>
              <a:rPr lang="en-US" sz="1550" dirty="0">
                <a:solidFill>
                  <a:srgbClr val="55575A"/>
                </a:solidFill>
                <a:latin typeface="Roboto Condensed" pitchFamily="34" charset="0"/>
                <a:ea typeface="Roboto Condensed" pitchFamily="34" charset="-122"/>
                <a:cs typeface="Roboto Condensed" pitchFamily="34" charset="-120"/>
              </a:rPr>
              <a:t> is essential</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Inter-subject variability was higher than anticipated, implying </a:t>
            </a:r>
            <a:r>
              <a:rPr lang="en-US" sz="1550" b="1" dirty="0">
                <a:solidFill>
                  <a:srgbClr val="55575A"/>
                </a:solidFill>
                <a:latin typeface="Roboto Condensed" pitchFamily="34" charset="0"/>
                <a:ea typeface="Roboto Condensed" pitchFamily="34" charset="-122"/>
                <a:cs typeface="Roboto Condensed" pitchFamily="34" charset="-120"/>
              </a:rPr>
              <a:t>personalised thresholds</a:t>
            </a:r>
            <a:r>
              <a:rPr lang="en-US" sz="1550" dirty="0">
                <a:solidFill>
                  <a:srgbClr val="55575A"/>
                </a:solidFill>
                <a:latin typeface="Roboto Condensed" pitchFamily="34" charset="0"/>
                <a:ea typeface="Roboto Condensed" pitchFamily="34" charset="-122"/>
                <a:cs typeface="Roboto Condensed" pitchFamily="34" charset="-120"/>
              </a:rPr>
              <a:t> may outperform fixed rules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Lighting and clothing affected landmark confidence, introducing noise in ~8% of frames</a:t>
            </a:r>
            <a:endParaRPr lang="en-US" sz="1550" dirty="0"/>
          </a:p>
        </p:txBody>
      </p:sp>
      <p:pic>
        <p:nvPicPr>
          <p:cNvPr id="11" name="Picture 10">
            <a:extLst>
              <a:ext uri="{FF2B5EF4-FFF2-40B4-BE49-F238E27FC236}">
                <a16:creationId xmlns:a16="http://schemas.microsoft.com/office/drawing/2014/main" id="{A14A26B3-DBEC-A273-0A20-921866BC5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2" name="Footer Placeholder 3">
            <a:extLst>
              <a:ext uri="{FF2B5EF4-FFF2-40B4-BE49-F238E27FC236}">
                <a16:creationId xmlns:a16="http://schemas.microsoft.com/office/drawing/2014/main" id="{3CF61ABC-ACD1-858C-AF5D-9EC1889BBF48}"/>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635681"/>
            <a:ext cx="2200037" cy="373142"/>
          </a:xfrm>
          <a:prstGeom prst="roundRect">
            <a:avLst>
              <a:gd name="adj" fmla="val 6383"/>
            </a:avLst>
          </a:prstGeom>
          <a:solidFill>
            <a:srgbClr val="E7E7E4"/>
          </a:solidFill>
          <a:ln/>
        </p:spPr>
      </p:sp>
      <p:sp>
        <p:nvSpPr>
          <p:cNvPr id="3" name="Text 1"/>
          <p:cNvSpPr/>
          <p:nvPr/>
        </p:nvSpPr>
        <p:spPr>
          <a:xfrm>
            <a:off x="912852" y="1695212"/>
            <a:ext cx="1961912"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CONTRIBUTIONS TO THE FIELD</a:t>
            </a:r>
            <a:endParaRPr lang="en-US" sz="1250" dirty="0"/>
          </a:p>
        </p:txBody>
      </p:sp>
      <p:sp>
        <p:nvSpPr>
          <p:cNvPr id="4" name="Text 2"/>
          <p:cNvSpPr/>
          <p:nvPr/>
        </p:nvSpPr>
        <p:spPr>
          <a:xfrm>
            <a:off x="793790" y="2088118"/>
            <a:ext cx="12537877"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ADVANCING AI-ASSISTED FITNESS RESEARCH</a:t>
            </a:r>
            <a:endParaRPr lang="en-US" sz="3900" dirty="0"/>
          </a:p>
        </p:txBody>
      </p:sp>
      <p:sp>
        <p:nvSpPr>
          <p:cNvPr id="5" name="Text 3"/>
          <p:cNvSpPr/>
          <p:nvPr/>
        </p:nvSpPr>
        <p:spPr>
          <a:xfrm>
            <a:off x="793790" y="300585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This work makes three distinct contributions to computer vision and fitness technology, addressing a critical gap in publicly available, domain-specific training data.</a:t>
            </a:r>
            <a:endParaRPr lang="en-US" sz="1550" dirty="0"/>
          </a:p>
        </p:txBody>
      </p:sp>
      <p:sp>
        <p:nvSpPr>
          <p:cNvPr id="6" name="Shape 4"/>
          <p:cNvSpPr/>
          <p:nvPr/>
        </p:nvSpPr>
        <p:spPr>
          <a:xfrm>
            <a:off x="793790" y="3546634"/>
            <a:ext cx="4215289" cy="3047286"/>
          </a:xfrm>
          <a:prstGeom prst="roundRect">
            <a:avLst>
              <a:gd name="adj" fmla="val 977"/>
            </a:avLst>
          </a:prstGeom>
          <a:solidFill>
            <a:srgbClr val="E8E8E3"/>
          </a:solidFill>
          <a:ln w="22860">
            <a:solidFill>
              <a:srgbClr val="C8CAC1"/>
            </a:solidFill>
            <a:prstDash val="solid"/>
          </a:ln>
        </p:spPr>
      </p:sp>
      <p:sp>
        <p:nvSpPr>
          <p:cNvPr id="7" name="Shape 5"/>
          <p:cNvSpPr/>
          <p:nvPr/>
        </p:nvSpPr>
        <p:spPr>
          <a:xfrm>
            <a:off x="816650" y="3569494"/>
            <a:ext cx="4169569" cy="595313"/>
          </a:xfrm>
          <a:prstGeom prst="roundRect">
            <a:avLst>
              <a:gd name="adj" fmla="val 393"/>
            </a:avLst>
          </a:prstGeom>
          <a:solidFill>
            <a:srgbClr val="C8CAC1">
              <a:alpha val="50000"/>
            </a:srgbClr>
          </a:solidFill>
          <a:ln/>
        </p:spPr>
      </p:sp>
      <p:sp>
        <p:nvSpPr>
          <p:cNvPr id="8" name="Text 6"/>
          <p:cNvSpPr/>
          <p:nvPr/>
        </p:nvSpPr>
        <p:spPr>
          <a:xfrm>
            <a:off x="2752606" y="3681055"/>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1</a:t>
            </a:r>
            <a:endParaRPr lang="en-US" sz="2300" dirty="0"/>
          </a:p>
        </p:txBody>
      </p:sp>
      <p:sp>
        <p:nvSpPr>
          <p:cNvPr id="9" name="Text 7"/>
          <p:cNvSpPr/>
          <p:nvPr/>
        </p:nvSpPr>
        <p:spPr>
          <a:xfrm>
            <a:off x="1015008" y="4363164"/>
            <a:ext cx="3772853"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FIRST DEDICATED GYM FORM DATASET</a:t>
            </a:r>
            <a:endParaRPr lang="en-US" sz="1950" dirty="0"/>
          </a:p>
        </p:txBody>
      </p:sp>
      <p:sp>
        <p:nvSpPr>
          <p:cNvPr id="10" name="Text 8"/>
          <p:cNvSpPr/>
          <p:nvPr/>
        </p:nvSpPr>
        <p:spPr>
          <a:xfrm>
            <a:off x="1015008" y="5102543"/>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The first high-quality, labelled dataset for gym exercise form analysis using MediaPipe landmarks — thousands of frames across multiple exercises with expert annotations.</a:t>
            </a:r>
            <a:endParaRPr lang="en-US" sz="1550" dirty="0"/>
          </a:p>
        </p:txBody>
      </p:sp>
      <p:sp>
        <p:nvSpPr>
          <p:cNvPr id="11" name="Shape 9"/>
          <p:cNvSpPr/>
          <p:nvPr/>
        </p:nvSpPr>
        <p:spPr>
          <a:xfrm>
            <a:off x="5207437" y="3546634"/>
            <a:ext cx="4215408" cy="3047286"/>
          </a:xfrm>
          <a:prstGeom prst="roundRect">
            <a:avLst>
              <a:gd name="adj" fmla="val 977"/>
            </a:avLst>
          </a:prstGeom>
          <a:solidFill>
            <a:srgbClr val="E8E8E3"/>
          </a:solidFill>
          <a:ln w="22860">
            <a:solidFill>
              <a:srgbClr val="C8CAC1"/>
            </a:solidFill>
            <a:prstDash val="solid"/>
          </a:ln>
        </p:spPr>
      </p:sp>
      <p:sp>
        <p:nvSpPr>
          <p:cNvPr id="12" name="Shape 10"/>
          <p:cNvSpPr/>
          <p:nvPr/>
        </p:nvSpPr>
        <p:spPr>
          <a:xfrm>
            <a:off x="5230297" y="3569494"/>
            <a:ext cx="4169688" cy="595313"/>
          </a:xfrm>
          <a:prstGeom prst="roundRect">
            <a:avLst>
              <a:gd name="adj" fmla="val 393"/>
            </a:avLst>
          </a:prstGeom>
          <a:solidFill>
            <a:srgbClr val="C8CAC1">
              <a:alpha val="50000"/>
            </a:srgbClr>
          </a:solidFill>
          <a:ln/>
        </p:spPr>
      </p:sp>
      <p:sp>
        <p:nvSpPr>
          <p:cNvPr id="13" name="Text 11"/>
          <p:cNvSpPr/>
          <p:nvPr/>
        </p:nvSpPr>
        <p:spPr>
          <a:xfrm>
            <a:off x="7166253" y="3681055"/>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2</a:t>
            </a:r>
            <a:endParaRPr lang="en-US" sz="2300" dirty="0"/>
          </a:p>
        </p:txBody>
      </p:sp>
      <p:sp>
        <p:nvSpPr>
          <p:cNvPr id="14" name="Text 12"/>
          <p:cNvSpPr/>
          <p:nvPr/>
        </p:nvSpPr>
        <p:spPr>
          <a:xfrm>
            <a:off x="5428655" y="4363164"/>
            <a:ext cx="3772972"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OPEN, REPRODUCIBLE PIPELINE</a:t>
            </a:r>
            <a:endParaRPr lang="en-US" sz="1950" dirty="0"/>
          </a:p>
        </p:txBody>
      </p:sp>
      <p:sp>
        <p:nvSpPr>
          <p:cNvPr id="15" name="Text 13"/>
          <p:cNvSpPr/>
          <p:nvPr/>
        </p:nvSpPr>
        <p:spPr>
          <a:xfrm>
            <a:off x="5428655" y="5102543"/>
            <a:ext cx="3772972"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A fully documented, modular processing pipeline — from video ingestion to angle extraction — enabling replication and extension by other researchers.</a:t>
            </a:r>
            <a:endParaRPr lang="en-US" sz="1550" dirty="0"/>
          </a:p>
        </p:txBody>
      </p:sp>
      <p:sp>
        <p:nvSpPr>
          <p:cNvPr id="16" name="Shape 14"/>
          <p:cNvSpPr/>
          <p:nvPr/>
        </p:nvSpPr>
        <p:spPr>
          <a:xfrm>
            <a:off x="9621203" y="3546634"/>
            <a:ext cx="4215289" cy="3047286"/>
          </a:xfrm>
          <a:prstGeom prst="roundRect">
            <a:avLst>
              <a:gd name="adj" fmla="val 977"/>
            </a:avLst>
          </a:prstGeom>
          <a:solidFill>
            <a:srgbClr val="E8E8E3"/>
          </a:solidFill>
          <a:ln w="22860">
            <a:solidFill>
              <a:srgbClr val="C8CAC1"/>
            </a:solidFill>
            <a:prstDash val="solid"/>
          </a:ln>
        </p:spPr>
      </p:sp>
      <p:sp>
        <p:nvSpPr>
          <p:cNvPr id="17" name="Shape 15"/>
          <p:cNvSpPr/>
          <p:nvPr/>
        </p:nvSpPr>
        <p:spPr>
          <a:xfrm>
            <a:off x="9644063" y="3569494"/>
            <a:ext cx="4169569" cy="595313"/>
          </a:xfrm>
          <a:prstGeom prst="roundRect">
            <a:avLst>
              <a:gd name="adj" fmla="val 393"/>
            </a:avLst>
          </a:prstGeom>
          <a:solidFill>
            <a:srgbClr val="C8CAC1">
              <a:alpha val="50000"/>
            </a:srgbClr>
          </a:solidFill>
          <a:ln/>
        </p:spPr>
      </p:sp>
      <p:sp>
        <p:nvSpPr>
          <p:cNvPr id="18" name="Text 16"/>
          <p:cNvSpPr/>
          <p:nvPr/>
        </p:nvSpPr>
        <p:spPr>
          <a:xfrm>
            <a:off x="11580019" y="3681055"/>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000000"/>
                </a:solidFill>
                <a:latin typeface="Hubot Sans Bold" pitchFamily="34" charset="0"/>
                <a:ea typeface="Hubot Sans Bold" pitchFamily="34" charset="-122"/>
                <a:cs typeface="Hubot Sans Bold" pitchFamily="34" charset="-120"/>
              </a:rPr>
              <a:t>3</a:t>
            </a:r>
            <a:endParaRPr lang="en-US" sz="2300" dirty="0"/>
          </a:p>
        </p:txBody>
      </p:sp>
      <p:sp>
        <p:nvSpPr>
          <p:cNvPr id="19" name="Text 17"/>
          <p:cNvSpPr/>
          <p:nvPr/>
        </p:nvSpPr>
        <p:spPr>
          <a:xfrm>
            <a:off x="9842421" y="4363164"/>
            <a:ext cx="3772853"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BIOMECHANICALLY GROUNDED LABELS</a:t>
            </a:r>
            <a:endParaRPr lang="en-US" sz="1950" dirty="0"/>
          </a:p>
        </p:txBody>
      </p:sp>
      <p:sp>
        <p:nvSpPr>
          <p:cNvPr id="20" name="Text 18"/>
          <p:cNvSpPr/>
          <p:nvPr/>
        </p:nvSpPr>
        <p:spPr>
          <a:xfrm>
            <a:off x="9842421" y="5102543"/>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Labels informed by biomechanical literature rather than arbitrary heuristics, ensuring clinical relevance and generalisability across populations.</a:t>
            </a:r>
            <a:endParaRPr lang="en-US" sz="1550" dirty="0"/>
          </a:p>
        </p:txBody>
      </p:sp>
      <p:pic>
        <p:nvPicPr>
          <p:cNvPr id="21" name="Picture 20">
            <a:extLst>
              <a:ext uri="{FF2B5EF4-FFF2-40B4-BE49-F238E27FC236}">
                <a16:creationId xmlns:a16="http://schemas.microsoft.com/office/drawing/2014/main" id="{14D716DB-B3FF-6955-67C1-7864BCF1AC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22" name="Footer Placeholder 3">
            <a:extLst>
              <a:ext uri="{FF2B5EF4-FFF2-40B4-BE49-F238E27FC236}">
                <a16:creationId xmlns:a16="http://schemas.microsoft.com/office/drawing/2014/main" id="{2999F90F-66A5-0799-0E44-7091AC99F3A3}"/>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235869"/>
            <a:ext cx="1067038" cy="373142"/>
          </a:xfrm>
          <a:prstGeom prst="roundRect">
            <a:avLst>
              <a:gd name="adj" fmla="val 6383"/>
            </a:avLst>
          </a:prstGeom>
          <a:solidFill>
            <a:srgbClr val="E7E7E4"/>
          </a:solidFill>
          <a:ln/>
        </p:spPr>
      </p:sp>
      <p:sp>
        <p:nvSpPr>
          <p:cNvPr id="3" name="Text 1"/>
          <p:cNvSpPr/>
          <p:nvPr/>
        </p:nvSpPr>
        <p:spPr>
          <a:xfrm>
            <a:off x="1031915" y="1309092"/>
            <a:ext cx="828913"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LIMITATIONS</a:t>
            </a:r>
            <a:endParaRPr lang="en-US" sz="1250" dirty="0"/>
          </a:p>
        </p:txBody>
      </p:sp>
      <p:sp>
        <p:nvSpPr>
          <p:cNvPr id="4" name="Text 2"/>
          <p:cNvSpPr/>
          <p:nvPr/>
        </p:nvSpPr>
        <p:spPr>
          <a:xfrm>
            <a:off x="793790" y="1688306"/>
            <a:ext cx="9818608"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ACKNOWLEDGING THE BOUNDARIES</a:t>
            </a:r>
            <a:endParaRPr lang="en-US" sz="3900" dirty="0"/>
          </a:p>
        </p:txBody>
      </p:sp>
      <p:sp>
        <p:nvSpPr>
          <p:cNvPr id="5" name="Text 3"/>
          <p:cNvSpPr/>
          <p:nvPr/>
        </p:nvSpPr>
        <p:spPr>
          <a:xfrm>
            <a:off x="793790" y="260604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Transparency about limitations is essential for interpreting results and guiding future research. Four key constraints shaped this study.</a:t>
            </a:r>
            <a:endParaRPr lang="en-US" sz="1550" dirty="0"/>
          </a:p>
        </p:txBody>
      </p:sp>
      <p:sp>
        <p:nvSpPr>
          <p:cNvPr id="6" name="Shape 4"/>
          <p:cNvSpPr/>
          <p:nvPr/>
        </p:nvSpPr>
        <p:spPr>
          <a:xfrm>
            <a:off x="793790" y="3146822"/>
            <a:ext cx="6422231" cy="1824276"/>
          </a:xfrm>
          <a:prstGeom prst="roundRect">
            <a:avLst>
              <a:gd name="adj" fmla="val 6015"/>
            </a:avLst>
          </a:prstGeom>
          <a:solidFill>
            <a:srgbClr val="E8E8E3"/>
          </a:solidFill>
          <a:ln w="22860">
            <a:solidFill>
              <a:srgbClr val="C8CAC1"/>
            </a:solidFill>
            <a:prstDash val="solid"/>
          </a:ln>
        </p:spPr>
      </p:sp>
      <p:sp>
        <p:nvSpPr>
          <p:cNvPr id="7" name="Shape 5"/>
          <p:cNvSpPr/>
          <p:nvPr/>
        </p:nvSpPr>
        <p:spPr>
          <a:xfrm>
            <a:off x="770930" y="3146822"/>
            <a:ext cx="91440" cy="1824276"/>
          </a:xfrm>
          <a:prstGeom prst="roundRect">
            <a:avLst>
              <a:gd name="adj" fmla="val 32558"/>
            </a:avLst>
          </a:prstGeom>
          <a:solidFill>
            <a:srgbClr val="C8CAC1"/>
          </a:solidFill>
          <a:ln/>
        </p:spPr>
      </p:sp>
      <p:sp>
        <p:nvSpPr>
          <p:cNvPr id="8" name="Text 6"/>
          <p:cNvSpPr/>
          <p:nvPr/>
        </p:nvSpPr>
        <p:spPr>
          <a:xfrm>
            <a:off x="1083588" y="3368040"/>
            <a:ext cx="2930247"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2D POSE ESTIMATION</a:t>
            </a:r>
            <a:endParaRPr lang="en-US" sz="1950" dirty="0"/>
          </a:p>
        </p:txBody>
      </p:sp>
      <p:sp>
        <p:nvSpPr>
          <p:cNvPr id="9" name="Text 7"/>
          <p:cNvSpPr/>
          <p:nvPr/>
        </p:nvSpPr>
        <p:spPr>
          <a:xfrm>
            <a:off x="1083588" y="3797260"/>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MediaPipe's 2D landmarks cannot capture depth, limiting accuracy for movements with significant out-of-plane rotation (e.g., rotational shoulder presses).</a:t>
            </a:r>
            <a:endParaRPr lang="en-US" sz="1550" dirty="0"/>
          </a:p>
        </p:txBody>
      </p:sp>
      <p:sp>
        <p:nvSpPr>
          <p:cNvPr id="10" name="Shape 8"/>
          <p:cNvSpPr/>
          <p:nvPr/>
        </p:nvSpPr>
        <p:spPr>
          <a:xfrm>
            <a:off x="7414379" y="3146822"/>
            <a:ext cx="6422231" cy="1824276"/>
          </a:xfrm>
          <a:prstGeom prst="roundRect">
            <a:avLst>
              <a:gd name="adj" fmla="val 6015"/>
            </a:avLst>
          </a:prstGeom>
          <a:solidFill>
            <a:srgbClr val="E8E8E3"/>
          </a:solidFill>
          <a:ln w="22860">
            <a:solidFill>
              <a:srgbClr val="C8CAC1"/>
            </a:solidFill>
            <a:prstDash val="solid"/>
          </a:ln>
        </p:spPr>
      </p:sp>
      <p:sp>
        <p:nvSpPr>
          <p:cNvPr id="11" name="Shape 9"/>
          <p:cNvSpPr/>
          <p:nvPr/>
        </p:nvSpPr>
        <p:spPr>
          <a:xfrm>
            <a:off x="7391519" y="3146822"/>
            <a:ext cx="91440" cy="1824276"/>
          </a:xfrm>
          <a:prstGeom prst="roundRect">
            <a:avLst>
              <a:gd name="adj" fmla="val 32558"/>
            </a:avLst>
          </a:prstGeom>
          <a:solidFill>
            <a:srgbClr val="C8CAC1"/>
          </a:solidFill>
          <a:ln/>
        </p:spPr>
      </p:sp>
      <p:sp>
        <p:nvSpPr>
          <p:cNvPr id="12" name="Text 10"/>
          <p:cNvSpPr/>
          <p:nvPr/>
        </p:nvSpPr>
        <p:spPr>
          <a:xfrm>
            <a:off x="7704177" y="3368040"/>
            <a:ext cx="4061103"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LIMITED SUBJECT DIVERSITY</a:t>
            </a:r>
            <a:endParaRPr lang="en-US" sz="1950" dirty="0"/>
          </a:p>
        </p:txBody>
      </p:sp>
      <p:sp>
        <p:nvSpPr>
          <p:cNvPr id="13" name="Text 11"/>
          <p:cNvSpPr/>
          <p:nvPr/>
        </p:nvSpPr>
        <p:spPr>
          <a:xfrm>
            <a:off x="7704177" y="3797260"/>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The dataset covers a narrow range of body types, ages, and fitness levels, potentially limiting generalisability to broader populations.</a:t>
            </a:r>
            <a:endParaRPr lang="en-US" sz="1550" dirty="0"/>
          </a:p>
        </p:txBody>
      </p:sp>
      <p:sp>
        <p:nvSpPr>
          <p:cNvPr id="14" name="Shape 12"/>
          <p:cNvSpPr/>
          <p:nvPr/>
        </p:nvSpPr>
        <p:spPr>
          <a:xfrm>
            <a:off x="793790" y="5169456"/>
            <a:ext cx="6422231" cy="1824276"/>
          </a:xfrm>
          <a:prstGeom prst="roundRect">
            <a:avLst>
              <a:gd name="adj" fmla="val 6015"/>
            </a:avLst>
          </a:prstGeom>
          <a:solidFill>
            <a:srgbClr val="E8E8E3"/>
          </a:solidFill>
          <a:ln w="22860">
            <a:solidFill>
              <a:srgbClr val="C8CAC1"/>
            </a:solidFill>
            <a:prstDash val="solid"/>
          </a:ln>
        </p:spPr>
      </p:sp>
      <p:sp>
        <p:nvSpPr>
          <p:cNvPr id="15" name="Shape 13"/>
          <p:cNvSpPr/>
          <p:nvPr/>
        </p:nvSpPr>
        <p:spPr>
          <a:xfrm>
            <a:off x="770930" y="5169456"/>
            <a:ext cx="91440" cy="1824276"/>
          </a:xfrm>
          <a:prstGeom prst="roundRect">
            <a:avLst>
              <a:gd name="adj" fmla="val 32558"/>
            </a:avLst>
          </a:prstGeom>
          <a:solidFill>
            <a:srgbClr val="C8CAC1"/>
          </a:solidFill>
          <a:ln/>
        </p:spPr>
      </p:sp>
      <p:sp>
        <p:nvSpPr>
          <p:cNvPr id="16" name="Text 14"/>
          <p:cNvSpPr/>
          <p:nvPr/>
        </p:nvSpPr>
        <p:spPr>
          <a:xfrm>
            <a:off x="1083588" y="5390674"/>
            <a:ext cx="3961924"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CAMERA ANGLE DEPENDENCY</a:t>
            </a:r>
            <a:endParaRPr lang="en-US" sz="1950" dirty="0"/>
          </a:p>
        </p:txBody>
      </p:sp>
      <p:sp>
        <p:nvSpPr>
          <p:cNvPr id="17" name="Text 15"/>
          <p:cNvSpPr/>
          <p:nvPr/>
        </p:nvSpPr>
        <p:spPr>
          <a:xfrm>
            <a:off x="1083588" y="5819894"/>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Landmark accuracy degrades when subjects deviate from the optimal frontal or sagittal plane, introducing systematic bias in unconstrained settings.</a:t>
            </a:r>
            <a:endParaRPr lang="en-US" sz="1550" dirty="0"/>
          </a:p>
        </p:txBody>
      </p:sp>
      <p:sp>
        <p:nvSpPr>
          <p:cNvPr id="18" name="Shape 16"/>
          <p:cNvSpPr/>
          <p:nvPr/>
        </p:nvSpPr>
        <p:spPr>
          <a:xfrm>
            <a:off x="7414379" y="5169456"/>
            <a:ext cx="6422231" cy="1824276"/>
          </a:xfrm>
          <a:prstGeom prst="roundRect">
            <a:avLst>
              <a:gd name="adj" fmla="val 6015"/>
            </a:avLst>
          </a:prstGeom>
          <a:solidFill>
            <a:srgbClr val="E8E8E3"/>
          </a:solidFill>
          <a:ln w="22860">
            <a:solidFill>
              <a:srgbClr val="C8CAC1"/>
            </a:solidFill>
            <a:prstDash val="solid"/>
          </a:ln>
        </p:spPr>
      </p:sp>
      <p:sp>
        <p:nvSpPr>
          <p:cNvPr id="19" name="Shape 17"/>
          <p:cNvSpPr/>
          <p:nvPr/>
        </p:nvSpPr>
        <p:spPr>
          <a:xfrm>
            <a:off x="7391519" y="5169456"/>
            <a:ext cx="91440" cy="1824276"/>
          </a:xfrm>
          <a:prstGeom prst="roundRect">
            <a:avLst>
              <a:gd name="adj" fmla="val 32558"/>
            </a:avLst>
          </a:prstGeom>
          <a:solidFill>
            <a:srgbClr val="C8CAC1"/>
          </a:solidFill>
          <a:ln/>
        </p:spPr>
      </p:sp>
      <p:sp>
        <p:nvSpPr>
          <p:cNvPr id="20" name="Text 18"/>
          <p:cNvSpPr/>
          <p:nvPr/>
        </p:nvSpPr>
        <p:spPr>
          <a:xfrm>
            <a:off x="7704177" y="5390674"/>
            <a:ext cx="4979313"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RESTRICTED EXERCISE VARIATIONS</a:t>
            </a:r>
            <a:endParaRPr lang="en-US" sz="1950" dirty="0"/>
          </a:p>
        </p:txBody>
      </p:sp>
      <p:sp>
        <p:nvSpPr>
          <p:cNvPr id="21" name="Text 19"/>
          <p:cNvSpPr/>
          <p:nvPr/>
        </p:nvSpPr>
        <p:spPr>
          <a:xfrm>
            <a:off x="7704177" y="5819894"/>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Only canonical exercise variants were included; hybrid or modified movements (e.g., sumo deadlifts) were not represented.</a:t>
            </a:r>
            <a:endParaRPr lang="en-US" sz="1550" dirty="0"/>
          </a:p>
        </p:txBody>
      </p:sp>
      <p:pic>
        <p:nvPicPr>
          <p:cNvPr id="22" name="Picture 21">
            <a:extLst>
              <a:ext uri="{FF2B5EF4-FFF2-40B4-BE49-F238E27FC236}">
                <a16:creationId xmlns:a16="http://schemas.microsoft.com/office/drawing/2014/main" id="{5EFBC29E-1C6F-FAF0-6F5A-4BB7321AC2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23" name="Footer Placeholder 3">
            <a:extLst>
              <a:ext uri="{FF2B5EF4-FFF2-40B4-BE49-F238E27FC236}">
                <a16:creationId xmlns:a16="http://schemas.microsoft.com/office/drawing/2014/main" id="{F044A906-2065-60D2-9597-6901477C3CF9}"/>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472446"/>
            <a:ext cx="1552337" cy="373142"/>
          </a:xfrm>
          <a:prstGeom prst="roundRect">
            <a:avLst>
              <a:gd name="adj" fmla="val 6383"/>
            </a:avLst>
          </a:prstGeom>
          <a:solidFill>
            <a:srgbClr val="E7E7E4"/>
          </a:solidFill>
          <a:ln/>
        </p:spPr>
      </p:sp>
      <p:sp>
        <p:nvSpPr>
          <p:cNvPr id="3" name="Text 1"/>
          <p:cNvSpPr/>
          <p:nvPr/>
        </p:nvSpPr>
        <p:spPr>
          <a:xfrm>
            <a:off x="912852" y="1531977"/>
            <a:ext cx="1314212"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CHALLENGES FACED</a:t>
            </a:r>
            <a:endParaRPr lang="en-US" sz="1250" dirty="0"/>
          </a:p>
        </p:txBody>
      </p:sp>
      <p:sp>
        <p:nvSpPr>
          <p:cNvPr id="4" name="Text 2"/>
          <p:cNvSpPr/>
          <p:nvPr/>
        </p:nvSpPr>
        <p:spPr>
          <a:xfrm>
            <a:off x="793790" y="1924883"/>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OVERCOMING TECHNICAL &amp; METHODOLOGICAL HURDLES</a:t>
            </a:r>
            <a:endParaRPr lang="en-US" sz="3900" dirty="0"/>
          </a:p>
        </p:txBody>
      </p:sp>
      <p:sp>
        <p:nvSpPr>
          <p:cNvPr id="5" name="Text 3"/>
          <p:cNvSpPr/>
          <p:nvPr/>
        </p:nvSpPr>
        <p:spPr>
          <a:xfrm>
            <a:off x="793790" y="3462695"/>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Several non-trivial challenges arose during data collection and processing. Each was addressed through deliberate engineering decisions.</a:t>
            </a:r>
            <a:endParaRPr lang="en-US" sz="155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4003477"/>
            <a:ext cx="496133" cy="496133"/>
          </a:xfrm>
          <a:prstGeom prst="rect">
            <a:avLst/>
          </a:prstGeom>
        </p:spPr>
      </p:pic>
      <p:sp>
        <p:nvSpPr>
          <p:cNvPr id="7" name="Text 4"/>
          <p:cNvSpPr/>
          <p:nvPr/>
        </p:nvSpPr>
        <p:spPr>
          <a:xfrm>
            <a:off x="793790" y="4747617"/>
            <a:ext cx="3925729"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LOW LANDMARK VISIBILITY</a:t>
            </a:r>
            <a:endParaRPr lang="en-US" sz="1950" dirty="0"/>
          </a:p>
        </p:txBody>
      </p:sp>
      <p:sp>
        <p:nvSpPr>
          <p:cNvPr id="8" name="Text 5"/>
          <p:cNvSpPr/>
          <p:nvPr/>
        </p:nvSpPr>
        <p:spPr>
          <a:xfrm>
            <a:off x="793790" y="5176838"/>
            <a:ext cx="4182189"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Occlusion from equipment or body self-occlusion caused landmark dropouts. A </a:t>
            </a:r>
            <a:r>
              <a:rPr lang="en-US" sz="1550" b="1" dirty="0">
                <a:solidFill>
                  <a:srgbClr val="55575A"/>
                </a:solidFill>
                <a:latin typeface="Roboto Condensed" pitchFamily="34" charset="0"/>
                <a:ea typeface="Roboto Condensed" pitchFamily="34" charset="-122"/>
                <a:cs typeface="Roboto Condensed" pitchFamily="34" charset="-120"/>
              </a:rPr>
              <a:t>temporal interpolation filter</a:t>
            </a:r>
            <a:r>
              <a:rPr lang="en-US" sz="1550" dirty="0">
                <a:solidFill>
                  <a:srgbClr val="55575A"/>
                </a:solidFill>
                <a:latin typeface="Roboto Condensed" pitchFamily="34" charset="0"/>
                <a:ea typeface="Roboto Condensed" pitchFamily="34" charset="-122"/>
                <a:cs typeface="Roboto Condensed" pitchFamily="34" charset="-120"/>
              </a:rPr>
              <a:t> filled gaps using adjacent frame data, reducing data loss by ~70%.</a:t>
            </a:r>
            <a:endParaRPr lang="en-US" sz="1550"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3986" y="4003477"/>
            <a:ext cx="496133" cy="496133"/>
          </a:xfrm>
          <a:prstGeom prst="rect">
            <a:avLst/>
          </a:prstGeom>
        </p:spPr>
      </p:pic>
      <p:sp>
        <p:nvSpPr>
          <p:cNvPr id="10" name="Text 6"/>
          <p:cNvSpPr/>
          <p:nvPr/>
        </p:nvSpPr>
        <p:spPr>
          <a:xfrm>
            <a:off x="5223986" y="4747617"/>
            <a:ext cx="4182308"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VARIABLE BODY PROPORTIONS</a:t>
            </a:r>
            <a:endParaRPr lang="en-US" sz="1950" dirty="0"/>
          </a:p>
        </p:txBody>
      </p:sp>
      <p:sp>
        <p:nvSpPr>
          <p:cNvPr id="11" name="Text 7"/>
          <p:cNvSpPr/>
          <p:nvPr/>
        </p:nvSpPr>
        <p:spPr>
          <a:xfrm>
            <a:off x="5223986" y="5486995"/>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Fixed angular thresholds failed across diverse anthropometry. A </a:t>
            </a:r>
            <a:r>
              <a:rPr lang="en-US" sz="1550" b="1" dirty="0">
                <a:solidFill>
                  <a:srgbClr val="55575A"/>
                </a:solidFill>
                <a:latin typeface="Roboto Condensed" pitchFamily="34" charset="0"/>
                <a:ea typeface="Roboto Condensed" pitchFamily="34" charset="-122"/>
                <a:cs typeface="Roboto Condensed" pitchFamily="34" charset="-120"/>
              </a:rPr>
              <a:t>normalisation layer</a:t>
            </a:r>
            <a:r>
              <a:rPr lang="en-US" sz="1550" dirty="0">
                <a:solidFill>
                  <a:srgbClr val="55575A"/>
                </a:solidFill>
                <a:latin typeface="Roboto Condensed" pitchFamily="34" charset="0"/>
                <a:ea typeface="Roboto Condensed" pitchFamily="34" charset="-122"/>
                <a:cs typeface="Roboto Condensed" pitchFamily="34" charset="-120"/>
              </a:rPr>
              <a:t> adjusted thresholds relative to individual limb-length ratios.</a:t>
            </a:r>
            <a:endParaRPr lang="en-US" sz="15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4302" y="4003477"/>
            <a:ext cx="496133" cy="496133"/>
          </a:xfrm>
          <a:prstGeom prst="rect">
            <a:avLst/>
          </a:prstGeom>
        </p:spPr>
      </p:pic>
      <p:sp>
        <p:nvSpPr>
          <p:cNvPr id="13" name="Text 8"/>
          <p:cNvSpPr/>
          <p:nvPr/>
        </p:nvSpPr>
        <p:spPr>
          <a:xfrm>
            <a:off x="9654302" y="4747617"/>
            <a:ext cx="4182308"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LARGE-SCALE VIDEO PROCESSING</a:t>
            </a:r>
            <a:endParaRPr lang="en-US" sz="1950" dirty="0"/>
          </a:p>
        </p:txBody>
      </p:sp>
      <p:sp>
        <p:nvSpPr>
          <p:cNvPr id="14" name="Text 9"/>
          <p:cNvSpPr/>
          <p:nvPr/>
        </p:nvSpPr>
        <p:spPr>
          <a:xfrm>
            <a:off x="9654302" y="5486995"/>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Processing thousands of video frames required careful resource management. A </a:t>
            </a:r>
            <a:r>
              <a:rPr lang="en-US" sz="1550" b="1" dirty="0">
                <a:solidFill>
                  <a:srgbClr val="55575A"/>
                </a:solidFill>
                <a:latin typeface="Roboto Condensed" pitchFamily="34" charset="0"/>
                <a:ea typeface="Roboto Condensed" pitchFamily="34" charset="-122"/>
                <a:cs typeface="Roboto Condensed" pitchFamily="34" charset="-120"/>
              </a:rPr>
              <a:t>modular, batch-processing architecture</a:t>
            </a:r>
            <a:r>
              <a:rPr lang="en-US" sz="1550" dirty="0">
                <a:solidFill>
                  <a:srgbClr val="55575A"/>
                </a:solidFill>
                <a:latin typeface="Roboto Condensed" pitchFamily="34" charset="0"/>
                <a:ea typeface="Roboto Condensed" pitchFamily="34" charset="-122"/>
                <a:cs typeface="Roboto Condensed" pitchFamily="34" charset="-120"/>
              </a:rPr>
              <a:t> enabled parallel execution and checkpointing.</a:t>
            </a:r>
            <a:endParaRPr lang="en-US" sz="1550" dirty="0"/>
          </a:p>
        </p:txBody>
      </p:sp>
      <p:pic>
        <p:nvPicPr>
          <p:cNvPr id="15" name="Picture 14">
            <a:extLst>
              <a:ext uri="{FF2B5EF4-FFF2-40B4-BE49-F238E27FC236}">
                <a16:creationId xmlns:a16="http://schemas.microsoft.com/office/drawing/2014/main" id="{19FEE0A5-32A3-BF12-C11F-1D1556FA492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6" name="Footer Placeholder 3">
            <a:extLst>
              <a:ext uri="{FF2B5EF4-FFF2-40B4-BE49-F238E27FC236}">
                <a16:creationId xmlns:a16="http://schemas.microsoft.com/office/drawing/2014/main" id="{9C742D35-8E61-70F4-E075-755958C52D6C}"/>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452147" y="462709"/>
            <a:ext cx="915353" cy="272772"/>
          </a:xfrm>
          <a:prstGeom prst="roundRect">
            <a:avLst>
              <a:gd name="adj" fmla="val 6884"/>
            </a:avLst>
          </a:prstGeom>
          <a:solidFill>
            <a:srgbClr val="E7E7E4"/>
          </a:solidFill>
          <a:ln/>
        </p:spPr>
      </p:sp>
      <p:sp>
        <p:nvSpPr>
          <p:cNvPr id="3" name="Text 1"/>
          <p:cNvSpPr/>
          <p:nvPr/>
        </p:nvSpPr>
        <p:spPr>
          <a:xfrm>
            <a:off x="2299377" y="462709"/>
            <a:ext cx="727710" cy="178951"/>
          </a:xfrm>
          <a:prstGeom prst="rect">
            <a:avLst/>
          </a:prstGeom>
          <a:noFill/>
          <a:ln/>
        </p:spPr>
        <p:txBody>
          <a:bodyPr wrap="none" lIns="0" tIns="0" rIns="0" bIns="0" rtlCol="0" anchor="t"/>
          <a:lstStyle/>
          <a:p>
            <a:pPr marL="0" indent="0" algn="l">
              <a:lnSpc>
                <a:spcPts val="1400"/>
              </a:lnSpc>
              <a:buNone/>
            </a:pPr>
            <a:r>
              <a:rPr lang="en-US" sz="950" dirty="0">
                <a:solidFill>
                  <a:srgbClr val="55575A"/>
                </a:solidFill>
                <a:latin typeface="Roboto Condensed" pitchFamily="34" charset="0"/>
                <a:ea typeface="Roboto Condensed" pitchFamily="34" charset="-122"/>
                <a:cs typeface="Roboto Condensed" pitchFamily="34" charset="-120"/>
              </a:rPr>
              <a:t>FUTURE WORK</a:t>
            </a:r>
            <a:endParaRPr lang="en-US" sz="950" dirty="0"/>
          </a:p>
        </p:txBody>
      </p:sp>
      <p:sp>
        <p:nvSpPr>
          <p:cNvPr id="4" name="Text 2"/>
          <p:cNvSpPr/>
          <p:nvPr/>
        </p:nvSpPr>
        <p:spPr>
          <a:xfrm>
            <a:off x="2165798" y="777776"/>
            <a:ext cx="7777520" cy="488990"/>
          </a:xfrm>
          <a:prstGeom prst="rect">
            <a:avLst/>
          </a:prstGeom>
          <a:noFill/>
          <a:ln/>
        </p:spPr>
        <p:txBody>
          <a:bodyPr wrap="none" lIns="0" tIns="0" rIns="0" bIns="0" rtlCol="0" anchor="t"/>
          <a:lstStyle/>
          <a:p>
            <a:pPr marL="0" indent="0" algn="l">
              <a:lnSpc>
                <a:spcPts val="3850"/>
              </a:lnSpc>
              <a:buNone/>
            </a:pPr>
            <a:r>
              <a:rPr lang="en-US" sz="3050" b="1" dirty="0">
                <a:solidFill>
                  <a:srgbClr val="0C0D0F"/>
                </a:solidFill>
                <a:latin typeface="Hubot Sans Bold" pitchFamily="34" charset="0"/>
                <a:ea typeface="Hubot Sans Bold" pitchFamily="34" charset="-122"/>
                <a:cs typeface="Hubot Sans Bold" pitchFamily="34" charset="-120"/>
              </a:rPr>
              <a:t>ROADMAP FOR EXTENDED RESEARCH</a:t>
            </a:r>
            <a:endParaRPr lang="en-US" sz="3050" dirty="0"/>
          </a:p>
        </p:txBody>
      </p:sp>
      <p:sp>
        <p:nvSpPr>
          <p:cNvPr id="5" name="Text 3"/>
          <p:cNvSpPr/>
          <p:nvPr/>
        </p:nvSpPr>
        <p:spPr>
          <a:xfrm>
            <a:off x="1145381" y="1432084"/>
            <a:ext cx="12339638" cy="223718"/>
          </a:xfrm>
          <a:prstGeom prst="rect">
            <a:avLst/>
          </a:prstGeom>
          <a:noFill/>
          <a:ln/>
        </p:spPr>
        <p:txBody>
          <a:bodyPr wrap="none" lIns="0" tIns="0" rIns="0" bIns="0" rtlCol="0" anchor="t"/>
          <a:lstStyle/>
          <a:p>
            <a:pPr marL="0" indent="0" algn="l">
              <a:lnSpc>
                <a:spcPts val="1750"/>
              </a:lnSpc>
              <a:buNone/>
            </a:pPr>
            <a:r>
              <a:rPr lang="en-US" sz="1200" dirty="0">
                <a:solidFill>
                  <a:srgbClr val="55575A"/>
                </a:solidFill>
                <a:latin typeface="Roboto Condensed" pitchFamily="34" charset="0"/>
                <a:ea typeface="Roboto Condensed" pitchFamily="34" charset="-122"/>
                <a:cs typeface="Roboto Condensed" pitchFamily="34" charset="-120"/>
              </a:rPr>
              <a:t>Several promising directions can extend this work towards a production-ready, real-time form correction system.</a:t>
            </a:r>
            <a:endParaRPr lang="en-US" sz="1200" dirty="0"/>
          </a:p>
        </p:txBody>
      </p:sp>
      <p:pic>
        <p:nvPicPr>
          <p:cNvPr id="6" name="Image 0" descr="preencoded.png"/>
          <p:cNvPicPr>
            <a:picLocks noChangeAspect="1"/>
          </p:cNvPicPr>
          <p:nvPr/>
        </p:nvPicPr>
        <p:blipFill>
          <a:blip r:embed="rId3"/>
          <a:stretch>
            <a:fillRect/>
          </a:stretch>
        </p:blipFill>
        <p:spPr>
          <a:xfrm>
            <a:off x="1145381" y="1794510"/>
            <a:ext cx="12339638" cy="5412819"/>
          </a:xfrm>
          <a:prstGeom prst="rect">
            <a:avLst/>
          </a:prstGeom>
        </p:spPr>
      </p:pic>
      <p:sp>
        <p:nvSpPr>
          <p:cNvPr id="7" name="Text 4"/>
          <p:cNvSpPr/>
          <p:nvPr/>
        </p:nvSpPr>
        <p:spPr>
          <a:xfrm>
            <a:off x="4884986" y="5147180"/>
            <a:ext cx="1864965" cy="1001771"/>
          </a:xfrm>
          <a:prstGeom prst="rect">
            <a:avLst/>
          </a:prstGeom>
          <a:noFill/>
          <a:ln/>
        </p:spPr>
        <p:txBody>
          <a:bodyPr wrap="square" lIns="0" tIns="0" rIns="0" bIns="0" rtlCol="0" anchor="t"/>
          <a:lstStyle/>
          <a:p>
            <a:pPr marL="0" indent="0" algn="ctr">
              <a:lnSpc>
                <a:spcPts val="2600"/>
              </a:lnSpc>
              <a:buNone/>
            </a:pPr>
            <a:r>
              <a:rPr lang="en-US" sz="2100" b="1" dirty="0">
                <a:solidFill>
                  <a:srgbClr val="0C0D0F"/>
                </a:solidFill>
                <a:latin typeface="Hubot Sans Bold" pitchFamily="34" charset="0"/>
                <a:ea typeface="Hubot Sans Bold" pitchFamily="34" charset="-122"/>
                <a:cs typeface="Hubot Sans Bold" pitchFamily="34" charset="-120"/>
              </a:rPr>
              <a:t>3D POSE ESTIMATION</a:t>
            </a:r>
            <a:endParaRPr lang="en-US" sz="2100" dirty="0"/>
          </a:p>
        </p:txBody>
      </p:sp>
      <p:sp>
        <p:nvSpPr>
          <p:cNvPr id="8" name="Text 5"/>
          <p:cNvSpPr/>
          <p:nvPr/>
        </p:nvSpPr>
        <p:spPr>
          <a:xfrm>
            <a:off x="4884986" y="6243934"/>
            <a:ext cx="1864965" cy="477511"/>
          </a:xfrm>
          <a:prstGeom prst="rect">
            <a:avLst/>
          </a:prstGeom>
          <a:noFill/>
          <a:ln/>
        </p:spPr>
        <p:txBody>
          <a:bodyPr wrap="square" lIns="0" tIns="0" rIns="0" bIns="0" rtlCol="0" anchor="t"/>
          <a:lstStyle/>
          <a:p>
            <a:pPr marL="0" indent="0" algn="ctr">
              <a:lnSpc>
                <a:spcPts val="1850"/>
              </a:lnSpc>
              <a:buNone/>
            </a:pPr>
            <a:r>
              <a:rPr lang="en-US" sz="1650" dirty="0">
                <a:solidFill>
                  <a:srgbClr val="55575A"/>
                </a:solidFill>
                <a:latin typeface="Roboto Condensed" pitchFamily="34" charset="0"/>
                <a:ea typeface="Roboto Condensed" pitchFamily="34" charset="-122"/>
                <a:cs typeface="Roboto Condensed" pitchFamily="34" charset="-120"/>
              </a:rPr>
              <a:t>Upgrade to BlazePose 3D or VIBE</a:t>
            </a:r>
            <a:endParaRPr lang="en-US" sz="1650" dirty="0"/>
          </a:p>
        </p:txBody>
      </p:sp>
      <p:sp>
        <p:nvSpPr>
          <p:cNvPr id="9" name="Text 6"/>
          <p:cNvSpPr/>
          <p:nvPr/>
        </p:nvSpPr>
        <p:spPr>
          <a:xfrm>
            <a:off x="10809538" y="4574500"/>
            <a:ext cx="1864965" cy="1335695"/>
          </a:xfrm>
          <a:prstGeom prst="rect">
            <a:avLst/>
          </a:prstGeom>
          <a:noFill/>
          <a:ln/>
        </p:spPr>
        <p:txBody>
          <a:bodyPr wrap="square" lIns="0" tIns="0" rIns="0" bIns="0" rtlCol="0" anchor="t"/>
          <a:lstStyle/>
          <a:p>
            <a:pPr marL="0" indent="0" algn="ctr">
              <a:lnSpc>
                <a:spcPts val="2600"/>
              </a:lnSpc>
              <a:buNone/>
            </a:pPr>
            <a:r>
              <a:rPr lang="en-US" sz="2100" b="1" dirty="0">
                <a:solidFill>
                  <a:srgbClr val="0C0D0F"/>
                </a:solidFill>
                <a:latin typeface="Hubot Sans Bold" pitchFamily="34" charset="0"/>
                <a:ea typeface="Hubot Sans Bold" pitchFamily="34" charset="-122"/>
                <a:cs typeface="Hubot Sans Bold" pitchFamily="34" charset="-120"/>
              </a:rPr>
              <a:t>APPLICATION DEVELOPMENT</a:t>
            </a:r>
            <a:endParaRPr lang="en-US" sz="2100" dirty="0"/>
          </a:p>
        </p:txBody>
      </p:sp>
      <p:sp>
        <p:nvSpPr>
          <p:cNvPr id="10" name="Text 7"/>
          <p:cNvSpPr/>
          <p:nvPr/>
        </p:nvSpPr>
        <p:spPr>
          <a:xfrm>
            <a:off x="10809538" y="6005179"/>
            <a:ext cx="1864965" cy="716267"/>
          </a:xfrm>
          <a:prstGeom prst="rect">
            <a:avLst/>
          </a:prstGeom>
          <a:noFill/>
          <a:ln/>
        </p:spPr>
        <p:txBody>
          <a:bodyPr wrap="square" lIns="0" tIns="0" rIns="0" bIns="0" rtlCol="0" anchor="t"/>
          <a:lstStyle/>
          <a:p>
            <a:pPr marL="0" indent="0" algn="ctr">
              <a:lnSpc>
                <a:spcPts val="1850"/>
              </a:lnSpc>
              <a:buNone/>
            </a:pPr>
            <a:r>
              <a:rPr lang="en-US" sz="1650" dirty="0">
                <a:solidFill>
                  <a:srgbClr val="55575A"/>
                </a:solidFill>
                <a:latin typeface="Roboto Condensed" pitchFamily="34" charset="0"/>
                <a:ea typeface="Roboto Condensed" pitchFamily="34" charset="-122"/>
                <a:cs typeface="Roboto Condensed" pitchFamily="34" charset="-120"/>
              </a:rPr>
              <a:t>Deploy mobile and web apps with feedback</a:t>
            </a:r>
            <a:endParaRPr lang="en-US" sz="1650" dirty="0"/>
          </a:p>
        </p:txBody>
      </p:sp>
      <p:sp>
        <p:nvSpPr>
          <p:cNvPr id="11" name="Text 8"/>
          <p:cNvSpPr/>
          <p:nvPr/>
        </p:nvSpPr>
        <p:spPr>
          <a:xfrm>
            <a:off x="1988011" y="2280999"/>
            <a:ext cx="1864965" cy="667848"/>
          </a:xfrm>
          <a:prstGeom prst="rect">
            <a:avLst/>
          </a:prstGeom>
          <a:noFill/>
          <a:ln/>
        </p:spPr>
        <p:txBody>
          <a:bodyPr wrap="square" lIns="0" tIns="0" rIns="0" bIns="0" rtlCol="0" anchor="t"/>
          <a:lstStyle/>
          <a:p>
            <a:pPr marL="0" indent="0" algn="ctr">
              <a:lnSpc>
                <a:spcPts val="2600"/>
              </a:lnSpc>
              <a:buNone/>
            </a:pPr>
            <a:r>
              <a:rPr lang="en-US" sz="2100" b="1" dirty="0">
                <a:solidFill>
                  <a:srgbClr val="0C0D0F"/>
                </a:solidFill>
                <a:latin typeface="Hubot Sans Bold" pitchFamily="34" charset="0"/>
                <a:ea typeface="Hubot Sans Bold" pitchFamily="34" charset="-122"/>
                <a:cs typeface="Hubot Sans Bold" pitchFamily="34" charset="-120"/>
              </a:rPr>
              <a:t>EXPAND DATASET</a:t>
            </a:r>
            <a:endParaRPr lang="en-US" sz="2100" dirty="0"/>
          </a:p>
        </p:txBody>
      </p:sp>
      <p:sp>
        <p:nvSpPr>
          <p:cNvPr id="12" name="Text 9"/>
          <p:cNvSpPr/>
          <p:nvPr/>
        </p:nvSpPr>
        <p:spPr>
          <a:xfrm>
            <a:off x="1988011" y="3043830"/>
            <a:ext cx="1864965" cy="716267"/>
          </a:xfrm>
          <a:prstGeom prst="rect">
            <a:avLst/>
          </a:prstGeom>
          <a:noFill/>
          <a:ln/>
        </p:spPr>
        <p:txBody>
          <a:bodyPr wrap="square" lIns="0" tIns="0" rIns="0" bIns="0" rtlCol="0" anchor="t"/>
          <a:lstStyle/>
          <a:p>
            <a:pPr marL="0" indent="0" algn="ctr">
              <a:lnSpc>
                <a:spcPts val="1850"/>
              </a:lnSpc>
              <a:buNone/>
            </a:pPr>
            <a:r>
              <a:rPr lang="en-US" sz="1650" dirty="0">
                <a:solidFill>
                  <a:srgbClr val="55575A"/>
                </a:solidFill>
                <a:latin typeface="Roboto Condensed" pitchFamily="34" charset="0"/>
                <a:ea typeface="Roboto Condensed" pitchFamily="34" charset="-122"/>
                <a:cs typeface="Roboto Condensed" pitchFamily="34" charset="-120"/>
              </a:rPr>
              <a:t>Add exercises, subjects, and demographics</a:t>
            </a:r>
            <a:endParaRPr lang="en-US" sz="1650" dirty="0"/>
          </a:p>
        </p:txBody>
      </p:sp>
      <p:sp>
        <p:nvSpPr>
          <p:cNvPr id="13" name="Text 10"/>
          <p:cNvSpPr/>
          <p:nvPr/>
        </p:nvSpPr>
        <p:spPr>
          <a:xfrm>
            <a:off x="7888817" y="2280999"/>
            <a:ext cx="1864965" cy="667848"/>
          </a:xfrm>
          <a:prstGeom prst="rect">
            <a:avLst/>
          </a:prstGeom>
          <a:noFill/>
          <a:ln/>
        </p:spPr>
        <p:txBody>
          <a:bodyPr wrap="square" lIns="0" tIns="0" rIns="0" bIns="0" rtlCol="0" anchor="t"/>
          <a:lstStyle/>
          <a:p>
            <a:pPr marL="0" indent="0" algn="ctr">
              <a:lnSpc>
                <a:spcPts val="2600"/>
              </a:lnSpc>
              <a:buNone/>
            </a:pPr>
            <a:r>
              <a:rPr lang="en-US" sz="2100" b="1" dirty="0">
                <a:solidFill>
                  <a:srgbClr val="0C0D0F"/>
                </a:solidFill>
                <a:latin typeface="Hubot Sans Bold" pitchFamily="34" charset="0"/>
                <a:ea typeface="Hubot Sans Bold" pitchFamily="34" charset="-122"/>
                <a:cs typeface="Hubot Sans Bold" pitchFamily="34" charset="-120"/>
              </a:rPr>
              <a:t>ML MODEL TRAINING</a:t>
            </a:r>
            <a:endParaRPr lang="en-US" sz="2100" dirty="0"/>
          </a:p>
        </p:txBody>
      </p:sp>
      <p:sp>
        <p:nvSpPr>
          <p:cNvPr id="14" name="Text 11"/>
          <p:cNvSpPr/>
          <p:nvPr/>
        </p:nvSpPr>
        <p:spPr>
          <a:xfrm>
            <a:off x="7888817" y="3043830"/>
            <a:ext cx="1864965" cy="477511"/>
          </a:xfrm>
          <a:prstGeom prst="rect">
            <a:avLst/>
          </a:prstGeom>
          <a:noFill/>
          <a:ln/>
        </p:spPr>
        <p:txBody>
          <a:bodyPr wrap="square" lIns="0" tIns="0" rIns="0" bIns="0" rtlCol="0" anchor="t"/>
          <a:lstStyle/>
          <a:p>
            <a:pPr marL="0" indent="0" algn="ctr">
              <a:lnSpc>
                <a:spcPts val="1850"/>
              </a:lnSpc>
              <a:buNone/>
            </a:pPr>
            <a:r>
              <a:rPr lang="en-US" sz="1650" dirty="0">
                <a:solidFill>
                  <a:srgbClr val="55575A"/>
                </a:solidFill>
                <a:latin typeface="Roboto Condensed" pitchFamily="34" charset="0"/>
                <a:ea typeface="Roboto Condensed" pitchFamily="34" charset="-122"/>
                <a:cs typeface="Roboto Condensed" pitchFamily="34" charset="-120"/>
              </a:rPr>
              <a:t>Train classifiers and temporal models</a:t>
            </a:r>
            <a:endParaRPr lang="en-US" sz="1650" dirty="0"/>
          </a:p>
        </p:txBody>
      </p:sp>
      <p:sp>
        <p:nvSpPr>
          <p:cNvPr id="15" name="Text 12"/>
          <p:cNvSpPr/>
          <p:nvPr/>
        </p:nvSpPr>
        <p:spPr>
          <a:xfrm>
            <a:off x="1145381" y="7346037"/>
            <a:ext cx="12339638" cy="447437"/>
          </a:xfrm>
          <a:prstGeom prst="rect">
            <a:avLst/>
          </a:prstGeom>
          <a:noFill/>
          <a:ln/>
        </p:spPr>
        <p:txBody>
          <a:bodyPr wrap="square" lIns="0" tIns="0" rIns="0" bIns="0" rtlCol="0" anchor="t"/>
          <a:lstStyle/>
          <a:p>
            <a:pPr marL="0" indent="0" algn="l">
              <a:lnSpc>
                <a:spcPts val="1750"/>
              </a:lnSpc>
              <a:buNone/>
            </a:pPr>
            <a:r>
              <a:rPr lang="en-US" sz="1200" dirty="0">
                <a:solidFill>
                  <a:srgbClr val="55575A"/>
                </a:solidFill>
                <a:latin typeface="Roboto Condensed" pitchFamily="34" charset="0"/>
                <a:ea typeface="Roboto Condensed" pitchFamily="34" charset="-122"/>
                <a:cs typeface="Roboto Condensed" pitchFamily="34" charset="-120"/>
              </a:rPr>
              <a:t>Transitioning to </a:t>
            </a:r>
            <a:r>
              <a:rPr lang="en-US" sz="1200" b="1" dirty="0">
                <a:solidFill>
                  <a:srgbClr val="55575A"/>
                </a:solidFill>
                <a:latin typeface="Roboto Condensed" pitchFamily="34" charset="0"/>
                <a:ea typeface="Roboto Condensed" pitchFamily="34" charset="-122"/>
                <a:cs typeface="Roboto Condensed" pitchFamily="34" charset="-120"/>
              </a:rPr>
              <a:t>3D pose estimation</a:t>
            </a:r>
            <a:r>
              <a:rPr lang="en-US" sz="1200" dirty="0">
                <a:solidFill>
                  <a:srgbClr val="55575A"/>
                </a:solidFill>
                <a:latin typeface="Roboto Condensed" pitchFamily="34" charset="0"/>
                <a:ea typeface="Roboto Condensed" pitchFamily="34" charset="-122"/>
                <a:cs typeface="Roboto Condensed" pitchFamily="34" charset="-120"/>
              </a:rPr>
              <a:t> (e.g., MediaPipe BlazePose 3D, VIBE, or MotionBERT) would resolve depth ambiguity. Subsequent phases include training </a:t>
            </a:r>
            <a:r>
              <a:rPr lang="en-US" sz="1200" b="1" dirty="0">
                <a:solidFill>
                  <a:srgbClr val="55575A"/>
                </a:solidFill>
                <a:latin typeface="Roboto Condensed" pitchFamily="34" charset="0"/>
                <a:ea typeface="Roboto Condensed" pitchFamily="34" charset="-122"/>
                <a:cs typeface="Roboto Condensed" pitchFamily="34" charset="-120"/>
              </a:rPr>
              <a:t>temporal models</a:t>
            </a:r>
            <a:r>
              <a:rPr lang="en-US" sz="1200" dirty="0">
                <a:solidFill>
                  <a:srgbClr val="55575A"/>
                </a:solidFill>
                <a:latin typeface="Roboto Condensed" pitchFamily="34" charset="0"/>
                <a:ea typeface="Roboto Condensed" pitchFamily="34" charset="-122"/>
                <a:cs typeface="Roboto Condensed" pitchFamily="34" charset="-120"/>
              </a:rPr>
              <a:t> (LSTMs, Transformers) for phase-aware scoring, and deploying a </a:t>
            </a:r>
            <a:r>
              <a:rPr lang="en-US" sz="1200" b="1" dirty="0">
                <a:solidFill>
                  <a:srgbClr val="55575A"/>
                </a:solidFill>
                <a:latin typeface="Roboto Condensed" pitchFamily="34" charset="0"/>
                <a:ea typeface="Roboto Condensed" pitchFamily="34" charset="-122"/>
                <a:cs typeface="Roboto Condensed" pitchFamily="34" charset="-120"/>
              </a:rPr>
              <a:t>cross-platform application</a:t>
            </a:r>
            <a:r>
              <a:rPr lang="en-US" sz="1200" dirty="0">
                <a:solidFill>
                  <a:srgbClr val="55575A"/>
                </a:solidFill>
                <a:latin typeface="Roboto Condensed" pitchFamily="34" charset="0"/>
                <a:ea typeface="Roboto Condensed" pitchFamily="34" charset="-122"/>
                <a:cs typeface="Roboto Condensed" pitchFamily="34" charset="-120"/>
              </a:rPr>
              <a:t> for end-user feedback.</a:t>
            </a:r>
            <a:endParaRPr lang="en-US" sz="1200" dirty="0"/>
          </a:p>
        </p:txBody>
      </p:sp>
      <p:pic>
        <p:nvPicPr>
          <p:cNvPr id="16" name="Picture 15">
            <a:extLst>
              <a:ext uri="{FF2B5EF4-FFF2-40B4-BE49-F238E27FC236}">
                <a16:creationId xmlns:a16="http://schemas.microsoft.com/office/drawing/2014/main" id="{1B1F28A9-9936-7DC6-A837-5A1039FDD6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7" name="Footer Placeholder 3">
            <a:extLst>
              <a:ext uri="{FF2B5EF4-FFF2-40B4-BE49-F238E27FC236}">
                <a16:creationId xmlns:a16="http://schemas.microsoft.com/office/drawing/2014/main" id="{D47C187E-0FD5-FD1E-7768-33A20EBAA964}"/>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649849"/>
            <a:ext cx="1087993" cy="373142"/>
          </a:xfrm>
          <a:prstGeom prst="roundRect">
            <a:avLst>
              <a:gd name="adj" fmla="val 6383"/>
            </a:avLst>
          </a:prstGeom>
          <a:solidFill>
            <a:srgbClr val="E7E7E4"/>
          </a:solidFill>
          <a:ln/>
        </p:spPr>
      </p:sp>
      <p:sp>
        <p:nvSpPr>
          <p:cNvPr id="3" name="Text 1"/>
          <p:cNvSpPr/>
          <p:nvPr/>
        </p:nvSpPr>
        <p:spPr>
          <a:xfrm>
            <a:off x="912852" y="1709380"/>
            <a:ext cx="849868"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CONCLUSION</a:t>
            </a:r>
            <a:endParaRPr lang="en-US" sz="1250" dirty="0"/>
          </a:p>
        </p:txBody>
      </p:sp>
      <p:sp>
        <p:nvSpPr>
          <p:cNvPr id="4" name="Text 2"/>
          <p:cNvSpPr/>
          <p:nvPr/>
        </p:nvSpPr>
        <p:spPr>
          <a:xfrm>
            <a:off x="793790" y="2102287"/>
            <a:ext cx="7568565"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SUMMARY &amp; SIGNIFICANCE</a:t>
            </a:r>
            <a:endParaRPr lang="en-US" sz="3900" dirty="0"/>
          </a:p>
        </p:txBody>
      </p:sp>
      <p:sp>
        <p:nvSpPr>
          <p:cNvPr id="5" name="Text 3"/>
          <p:cNvSpPr/>
          <p:nvPr/>
        </p:nvSpPr>
        <p:spPr>
          <a:xfrm>
            <a:off x="793790" y="3198614"/>
            <a:ext cx="6955631"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This research successfully developed a </a:t>
            </a:r>
            <a:r>
              <a:rPr lang="en-US" sz="1550" b="1" dirty="0">
                <a:solidFill>
                  <a:srgbClr val="55575A"/>
                </a:solidFill>
                <a:latin typeface="Roboto Condensed" pitchFamily="34" charset="0"/>
                <a:ea typeface="Roboto Condensed" pitchFamily="34" charset="-122"/>
                <a:cs typeface="Roboto Condensed" pitchFamily="34" charset="-120"/>
              </a:rPr>
              <a:t>complete dataset and processing pipeline</a:t>
            </a:r>
            <a:r>
              <a:rPr lang="en-US" sz="1550" dirty="0">
                <a:solidFill>
                  <a:srgbClr val="55575A"/>
                </a:solidFill>
                <a:latin typeface="Roboto Condensed" pitchFamily="34" charset="0"/>
                <a:ea typeface="Roboto Condensed" pitchFamily="34" charset="-122"/>
                <a:cs typeface="Roboto Condensed" pitchFamily="34" charset="-120"/>
              </a:rPr>
              <a:t> for gym exercise form analysis using MediaPipe pose estimation. Key achievements include:</a:t>
            </a:r>
            <a:endParaRPr lang="en-US" sz="1550" dirty="0"/>
          </a:p>
        </p:txBody>
      </p:sp>
      <p:sp>
        <p:nvSpPr>
          <p:cNvPr id="6" name="Text 4"/>
          <p:cNvSpPr/>
          <p:nvPr/>
        </p:nvSpPr>
        <p:spPr>
          <a:xfrm>
            <a:off x="793790" y="4012287"/>
            <a:ext cx="6955631" cy="109144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Thousands of labelled frames across multiple compound and isolation exercises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Quantifiable angular distinctions between correct and incorrect form</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An open, reproducible pipeline advancing AI-assisted fitness research</a:t>
            </a:r>
            <a:endParaRPr lang="en-US" sz="1550" dirty="0"/>
          </a:p>
        </p:txBody>
      </p:sp>
      <p:sp>
        <p:nvSpPr>
          <p:cNvPr id="7" name="Text 5"/>
          <p:cNvSpPr/>
          <p:nvPr/>
        </p:nvSpPr>
        <p:spPr>
          <a:xfrm>
            <a:off x="793790" y="5282327"/>
            <a:ext cx="6955631"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These findings lay the groundwork for </a:t>
            </a:r>
            <a:r>
              <a:rPr lang="en-US" sz="1550" b="1" dirty="0">
                <a:solidFill>
                  <a:srgbClr val="55575A"/>
                </a:solidFill>
                <a:latin typeface="Roboto Condensed" pitchFamily="34" charset="0"/>
                <a:ea typeface="Roboto Condensed" pitchFamily="34" charset="-122"/>
                <a:cs typeface="Roboto Condensed" pitchFamily="34" charset="-120"/>
              </a:rPr>
              <a:t>safer, smarter fitness training</a:t>
            </a:r>
            <a:r>
              <a:rPr lang="en-US" sz="1550" dirty="0">
                <a:solidFill>
                  <a:srgbClr val="55575A"/>
                </a:solidFill>
                <a:latin typeface="Roboto Condensed" pitchFamily="34" charset="0"/>
                <a:ea typeface="Roboto Condensed" pitchFamily="34" charset="-122"/>
                <a:cs typeface="Roboto Condensed" pitchFamily="34" charset="-120"/>
              </a:rPr>
              <a:t> powered by accessible computer vision technology.</a:t>
            </a:r>
            <a:endParaRPr lang="en-US" sz="1550" dirty="0"/>
          </a:p>
        </p:txBody>
      </p:sp>
      <p:sp>
        <p:nvSpPr>
          <p:cNvPr id="8" name="Shape 6"/>
          <p:cNvSpPr/>
          <p:nvPr/>
        </p:nvSpPr>
        <p:spPr>
          <a:xfrm>
            <a:off x="8098274" y="3020020"/>
            <a:ext cx="5888712" cy="3559612"/>
          </a:xfrm>
          <a:prstGeom prst="roundRect">
            <a:avLst>
              <a:gd name="adj" fmla="val 836"/>
            </a:avLst>
          </a:prstGeom>
          <a:solidFill>
            <a:srgbClr val="1E1E1A"/>
          </a:solidFill>
          <a:ln/>
        </p:spPr>
      </p:sp>
      <p:sp>
        <p:nvSpPr>
          <p:cNvPr id="9" name="Text 7"/>
          <p:cNvSpPr/>
          <p:nvPr/>
        </p:nvSpPr>
        <p:spPr>
          <a:xfrm>
            <a:off x="8296632" y="321837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Hubot Sans Bold" pitchFamily="34" charset="0"/>
                <a:ea typeface="Hubot Sans Bold" pitchFamily="34" charset="-122"/>
                <a:cs typeface="Hubot Sans Bold" pitchFamily="34" charset="-120"/>
              </a:rPr>
              <a:t>CORE TAKEAWAY</a:t>
            </a:r>
            <a:endParaRPr lang="en-US" sz="1950" dirty="0"/>
          </a:p>
        </p:txBody>
      </p:sp>
      <p:sp>
        <p:nvSpPr>
          <p:cNvPr id="10" name="Text 8"/>
          <p:cNvSpPr/>
          <p:nvPr/>
        </p:nvSpPr>
        <p:spPr>
          <a:xfrm>
            <a:off x="8296632" y="3726894"/>
            <a:ext cx="5491996"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Condensed" pitchFamily="34" charset="0"/>
                <a:ea typeface="Roboto Condensed" pitchFamily="34" charset="-122"/>
                <a:cs typeface="Roboto Condensed" pitchFamily="34" charset="-120"/>
              </a:rPr>
              <a:t>2D pose estimation, combined with robust angle extraction logic, is sufficient to discriminate exercise form with measurable accuracy — a promising foundation for scalable, real-time feedback systems.</a:t>
            </a:r>
            <a:endParaRPr lang="en-US" sz="1550" dirty="0"/>
          </a:p>
        </p:txBody>
      </p:sp>
      <p:sp>
        <p:nvSpPr>
          <p:cNvPr id="11" name="Shape 9"/>
          <p:cNvSpPr/>
          <p:nvPr/>
        </p:nvSpPr>
        <p:spPr>
          <a:xfrm>
            <a:off x="8296632" y="5001904"/>
            <a:ext cx="5491996" cy="32385"/>
          </a:xfrm>
          <a:prstGeom prst="rect">
            <a:avLst/>
          </a:prstGeom>
          <a:solidFill>
            <a:srgbClr val="FFFFFF">
              <a:alpha val="50000"/>
            </a:srgbClr>
          </a:solidFill>
          <a:ln/>
        </p:spPr>
      </p:sp>
      <p:sp>
        <p:nvSpPr>
          <p:cNvPr id="12" name="Text 10"/>
          <p:cNvSpPr/>
          <p:nvPr/>
        </p:nvSpPr>
        <p:spPr>
          <a:xfrm>
            <a:off x="8296632" y="525744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Hubot Sans Bold" pitchFamily="34" charset="0"/>
                <a:ea typeface="Hubot Sans Bold" pitchFamily="34" charset="-122"/>
                <a:cs typeface="Hubot Sans Bold" pitchFamily="34" charset="-120"/>
              </a:rPr>
              <a:t>BROADER IMPACT</a:t>
            </a:r>
            <a:endParaRPr lang="en-US" sz="1950" dirty="0"/>
          </a:p>
        </p:txBody>
      </p:sp>
      <p:sp>
        <p:nvSpPr>
          <p:cNvPr id="13" name="Text 11"/>
          <p:cNvSpPr/>
          <p:nvPr/>
        </p:nvSpPr>
        <p:spPr>
          <a:xfrm>
            <a:off x="8296632" y="5765959"/>
            <a:ext cx="5491996"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Condensed" pitchFamily="34" charset="0"/>
                <a:ea typeface="Roboto Condensed" pitchFamily="34" charset="-122"/>
                <a:cs typeface="Roboto Condensed" pitchFamily="34" charset="-120"/>
              </a:rPr>
              <a:t>Democratising access to form analysis could reduce gym-related injuries and improve training outcomes across diverse populations.</a:t>
            </a:r>
            <a:endParaRPr lang="en-US" sz="1550" dirty="0"/>
          </a:p>
        </p:txBody>
      </p:sp>
      <p:pic>
        <p:nvPicPr>
          <p:cNvPr id="14" name="Picture 13">
            <a:extLst>
              <a:ext uri="{FF2B5EF4-FFF2-40B4-BE49-F238E27FC236}">
                <a16:creationId xmlns:a16="http://schemas.microsoft.com/office/drawing/2014/main" id="{3BC0955C-37AA-220C-5B9B-6D86CF9D1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5" name="Footer Placeholder 3">
            <a:extLst>
              <a:ext uri="{FF2B5EF4-FFF2-40B4-BE49-F238E27FC236}">
                <a16:creationId xmlns:a16="http://schemas.microsoft.com/office/drawing/2014/main" id="{A4E17D0F-B9FB-0EE5-44CB-3028C9FFA214}"/>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608773"/>
            <a:ext cx="1069181" cy="373142"/>
          </a:xfrm>
          <a:prstGeom prst="roundRect">
            <a:avLst>
              <a:gd name="adj" fmla="val 6383"/>
            </a:avLst>
          </a:prstGeom>
          <a:solidFill>
            <a:srgbClr val="E7E7E4"/>
          </a:solidFill>
          <a:ln/>
        </p:spPr>
      </p:sp>
      <p:sp>
        <p:nvSpPr>
          <p:cNvPr id="3" name="Text 1"/>
          <p:cNvSpPr/>
          <p:nvPr/>
        </p:nvSpPr>
        <p:spPr>
          <a:xfrm>
            <a:off x="912852" y="1668304"/>
            <a:ext cx="831056"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REFERENCES</a:t>
            </a:r>
            <a:endParaRPr lang="en-US" sz="1250" dirty="0"/>
          </a:p>
        </p:txBody>
      </p:sp>
      <p:sp>
        <p:nvSpPr>
          <p:cNvPr id="4" name="Text 2"/>
          <p:cNvSpPr/>
          <p:nvPr/>
        </p:nvSpPr>
        <p:spPr>
          <a:xfrm>
            <a:off x="793790" y="2061210"/>
            <a:ext cx="5259586"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CITED LITERATURE</a:t>
            </a:r>
            <a:endParaRPr lang="en-US" sz="3900" dirty="0"/>
          </a:p>
        </p:txBody>
      </p:sp>
      <p:sp>
        <p:nvSpPr>
          <p:cNvPr id="5" name="Text 3"/>
          <p:cNvSpPr/>
          <p:nvPr/>
        </p:nvSpPr>
        <p:spPr>
          <a:xfrm>
            <a:off x="793790" y="297894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Key sources underpinning this research, spanning pose estimation, computer vision, biomechanics, and fitness technology.</a:t>
            </a:r>
            <a:endParaRPr lang="en-US" sz="1550" dirty="0"/>
          </a:p>
        </p:txBody>
      </p:sp>
      <p:sp>
        <p:nvSpPr>
          <p:cNvPr id="6" name="Shape 4"/>
          <p:cNvSpPr/>
          <p:nvPr/>
        </p:nvSpPr>
        <p:spPr>
          <a:xfrm>
            <a:off x="770930" y="3496866"/>
            <a:ext cx="45720" cy="3146703"/>
          </a:xfrm>
          <a:prstGeom prst="rect">
            <a:avLst/>
          </a:prstGeom>
          <a:solidFill>
            <a:srgbClr val="C8CAC1"/>
          </a:solidFill>
          <a:ln/>
        </p:spPr>
      </p:sp>
      <p:sp>
        <p:nvSpPr>
          <p:cNvPr id="7" name="Text 5"/>
          <p:cNvSpPr/>
          <p:nvPr/>
        </p:nvSpPr>
        <p:spPr>
          <a:xfrm>
            <a:off x="1037868" y="3519726"/>
            <a:ext cx="3938111"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POSE ESTIMATION &amp; COMPUTER VISION</a:t>
            </a:r>
            <a:endParaRPr lang="en-US" sz="1950" dirty="0"/>
          </a:p>
        </p:txBody>
      </p:sp>
      <p:sp>
        <p:nvSpPr>
          <p:cNvPr id="8" name="Text 6"/>
          <p:cNvSpPr/>
          <p:nvPr/>
        </p:nvSpPr>
        <p:spPr>
          <a:xfrm>
            <a:off x="1037868" y="4259104"/>
            <a:ext cx="3938111" cy="2361605"/>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Lugaresi et al. (2019). </a:t>
            </a:r>
            <a:r>
              <a:rPr lang="en-US" sz="1550" i="1" dirty="0">
                <a:solidFill>
                  <a:srgbClr val="55575A"/>
                </a:solidFill>
                <a:latin typeface="Roboto Condensed" pitchFamily="34" charset="0"/>
                <a:ea typeface="Roboto Condensed" pitchFamily="34" charset="-122"/>
                <a:cs typeface="Roboto Condensed" pitchFamily="34" charset="-120"/>
              </a:rPr>
              <a:t>MediaPipe: A Framework for Building Perception Pipelines.</a:t>
            </a:r>
            <a:r>
              <a:rPr lang="en-US" sz="1550" dirty="0">
                <a:solidFill>
                  <a:srgbClr val="55575A"/>
                </a:solidFill>
                <a:latin typeface="Roboto Condensed" pitchFamily="34" charset="0"/>
                <a:ea typeface="Roboto Condensed" pitchFamily="34" charset="-122"/>
                <a:cs typeface="Roboto Condensed" pitchFamily="34" charset="-120"/>
              </a:rPr>
              <a:t> Google Research.</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Bradski, G. (2000). </a:t>
            </a:r>
            <a:r>
              <a:rPr lang="en-US" sz="1550" i="1" dirty="0">
                <a:solidFill>
                  <a:srgbClr val="55575A"/>
                </a:solidFill>
                <a:latin typeface="Roboto Condensed" pitchFamily="34" charset="0"/>
                <a:ea typeface="Roboto Condensed" pitchFamily="34" charset="-122"/>
                <a:cs typeface="Roboto Condensed" pitchFamily="34" charset="-120"/>
              </a:rPr>
              <a:t>The OpenCV Library.</a:t>
            </a:r>
            <a:r>
              <a:rPr lang="en-US" sz="1550" dirty="0">
                <a:solidFill>
                  <a:srgbClr val="55575A"/>
                </a:solidFill>
                <a:latin typeface="Roboto Condensed" pitchFamily="34" charset="0"/>
                <a:ea typeface="Roboto Condensed" pitchFamily="34" charset="-122"/>
                <a:cs typeface="Roboto Condensed" pitchFamily="34" charset="-120"/>
              </a:rPr>
              <a:t> Dr. Dobb's Journal of Software Tools.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He, K. et al. (2016). </a:t>
            </a:r>
            <a:r>
              <a:rPr lang="en-US" sz="1550" i="1" dirty="0">
                <a:solidFill>
                  <a:srgbClr val="55575A"/>
                </a:solidFill>
                <a:latin typeface="Roboto Condensed" pitchFamily="34" charset="0"/>
                <a:ea typeface="Roboto Condensed" pitchFamily="34" charset="-122"/>
                <a:cs typeface="Roboto Condensed" pitchFamily="34" charset="-120"/>
              </a:rPr>
              <a:t>Deep Residual Learning for Image Recognition.</a:t>
            </a:r>
            <a:r>
              <a:rPr lang="en-US" sz="1550" dirty="0">
                <a:solidFill>
                  <a:srgbClr val="55575A"/>
                </a:solidFill>
                <a:latin typeface="Roboto Condensed" pitchFamily="34" charset="0"/>
                <a:ea typeface="Roboto Condensed" pitchFamily="34" charset="-122"/>
                <a:cs typeface="Roboto Condensed" pitchFamily="34" charset="-120"/>
              </a:rPr>
              <a:t> CVPR.</a:t>
            </a:r>
            <a:endParaRPr lang="en-US" sz="1550" dirty="0"/>
          </a:p>
        </p:txBody>
      </p:sp>
      <p:sp>
        <p:nvSpPr>
          <p:cNvPr id="9" name="Shape 7"/>
          <p:cNvSpPr/>
          <p:nvPr/>
        </p:nvSpPr>
        <p:spPr>
          <a:xfrm>
            <a:off x="5201126" y="3496866"/>
            <a:ext cx="45720" cy="3146703"/>
          </a:xfrm>
          <a:prstGeom prst="rect">
            <a:avLst/>
          </a:prstGeom>
          <a:solidFill>
            <a:srgbClr val="C8CAC1"/>
          </a:solidFill>
          <a:ln/>
        </p:spPr>
      </p:sp>
      <p:sp>
        <p:nvSpPr>
          <p:cNvPr id="10" name="Text 8"/>
          <p:cNvSpPr/>
          <p:nvPr/>
        </p:nvSpPr>
        <p:spPr>
          <a:xfrm>
            <a:off x="5468064" y="3519726"/>
            <a:ext cx="3938230" cy="620316"/>
          </a:xfrm>
          <a:prstGeom prst="rect">
            <a:avLst/>
          </a:prstGeom>
          <a:noFill/>
          <a:ln/>
        </p:spPr>
        <p:txBody>
          <a:bodyPr wrap="squar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BIOMECHANICS &amp; EXERCISE SCIENCE</a:t>
            </a:r>
            <a:endParaRPr lang="en-US" sz="1950" dirty="0"/>
          </a:p>
        </p:txBody>
      </p:sp>
      <p:sp>
        <p:nvSpPr>
          <p:cNvPr id="11" name="Text 9"/>
          <p:cNvSpPr/>
          <p:nvPr/>
        </p:nvSpPr>
        <p:spPr>
          <a:xfrm>
            <a:off x="5468064" y="4259104"/>
            <a:ext cx="3938230" cy="197465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Escamilla, R.F. (2001). </a:t>
            </a:r>
            <a:r>
              <a:rPr lang="en-US" sz="1550" i="1" dirty="0">
                <a:solidFill>
                  <a:srgbClr val="55575A"/>
                </a:solidFill>
                <a:latin typeface="Roboto Condensed" pitchFamily="34" charset="0"/>
                <a:ea typeface="Roboto Condensed" pitchFamily="34" charset="-122"/>
                <a:cs typeface="Roboto Condensed" pitchFamily="34" charset="-120"/>
              </a:rPr>
              <a:t>Knee biomechanics of the dynamic squat exercise.</a:t>
            </a:r>
            <a:r>
              <a:rPr lang="en-US" sz="1550" dirty="0">
                <a:solidFill>
                  <a:srgbClr val="55575A"/>
                </a:solidFill>
                <a:latin typeface="Roboto Condensed" pitchFamily="34" charset="0"/>
                <a:ea typeface="Roboto Condensed" pitchFamily="34" charset="-122"/>
                <a:cs typeface="Roboto Condensed" pitchFamily="34" charset="-120"/>
              </a:rPr>
              <a:t> Medicine &amp; Science in Sports &amp; Exercise.</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McGill, S.M. (2010). </a:t>
            </a:r>
            <a:r>
              <a:rPr lang="en-US" sz="1550" i="1" dirty="0">
                <a:solidFill>
                  <a:srgbClr val="55575A"/>
                </a:solidFill>
                <a:latin typeface="Roboto Condensed" pitchFamily="34" charset="0"/>
                <a:ea typeface="Roboto Condensed" pitchFamily="34" charset="-122"/>
                <a:cs typeface="Roboto Condensed" pitchFamily="34" charset="-120"/>
              </a:rPr>
              <a:t>Core training: Evidence translating to better performance and injury prevention.</a:t>
            </a:r>
            <a:r>
              <a:rPr lang="en-US" sz="1550" dirty="0">
                <a:solidFill>
                  <a:srgbClr val="55575A"/>
                </a:solidFill>
                <a:latin typeface="Roboto Condensed" pitchFamily="34" charset="0"/>
                <a:ea typeface="Roboto Condensed" pitchFamily="34" charset="-122"/>
                <a:cs typeface="Roboto Condensed" pitchFamily="34" charset="-120"/>
              </a:rPr>
              <a:t> Strength &amp; Conditioning Journal.</a:t>
            </a:r>
            <a:endParaRPr lang="en-US" sz="1550" dirty="0"/>
          </a:p>
        </p:txBody>
      </p:sp>
      <p:sp>
        <p:nvSpPr>
          <p:cNvPr id="12" name="Shape 10"/>
          <p:cNvSpPr/>
          <p:nvPr/>
        </p:nvSpPr>
        <p:spPr>
          <a:xfrm>
            <a:off x="9631442" y="3496866"/>
            <a:ext cx="45720" cy="3146703"/>
          </a:xfrm>
          <a:prstGeom prst="rect">
            <a:avLst/>
          </a:prstGeom>
          <a:solidFill>
            <a:srgbClr val="C8CAC1"/>
          </a:solidFill>
          <a:ln/>
        </p:spPr>
      </p:sp>
      <p:sp>
        <p:nvSpPr>
          <p:cNvPr id="13" name="Text 11"/>
          <p:cNvSpPr/>
          <p:nvPr/>
        </p:nvSpPr>
        <p:spPr>
          <a:xfrm>
            <a:off x="9898380" y="3519726"/>
            <a:ext cx="3312914" cy="310158"/>
          </a:xfrm>
          <a:prstGeom prst="rect">
            <a:avLst/>
          </a:prstGeom>
          <a:noFill/>
          <a:ln/>
        </p:spPr>
        <p:txBody>
          <a:bodyPr wrap="none" lIns="0" tIns="0" rIns="0" bIns="0" rtlCol="0" anchor="t"/>
          <a:lstStyle/>
          <a:p>
            <a:pPr marL="0" indent="0" algn="l">
              <a:lnSpc>
                <a:spcPts val="2400"/>
              </a:lnSpc>
              <a:buNone/>
            </a:pPr>
            <a:r>
              <a:rPr lang="en-US" sz="1950" b="1" dirty="0">
                <a:solidFill>
                  <a:srgbClr val="55575A"/>
                </a:solidFill>
                <a:latin typeface="Hubot Sans Bold" pitchFamily="34" charset="0"/>
                <a:ea typeface="Hubot Sans Bold" pitchFamily="34" charset="-122"/>
                <a:cs typeface="Hubot Sans Bold" pitchFamily="34" charset="-120"/>
              </a:rPr>
              <a:t>AI IN FITNESS &amp; HEALTH</a:t>
            </a:r>
            <a:endParaRPr lang="en-US" sz="1950" dirty="0"/>
          </a:p>
        </p:txBody>
      </p:sp>
      <p:sp>
        <p:nvSpPr>
          <p:cNvPr id="14" name="Text 12"/>
          <p:cNvSpPr/>
          <p:nvPr/>
        </p:nvSpPr>
        <p:spPr>
          <a:xfrm>
            <a:off x="9898380" y="3948946"/>
            <a:ext cx="3938230" cy="1974652"/>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Sharma, P. et al. (2022). </a:t>
            </a:r>
            <a:r>
              <a:rPr lang="en-US" sz="1550" i="1" dirty="0">
                <a:solidFill>
                  <a:srgbClr val="55575A"/>
                </a:solidFill>
                <a:latin typeface="Roboto Condensed" pitchFamily="34" charset="0"/>
                <a:ea typeface="Roboto Condensed" pitchFamily="34" charset="-122"/>
                <a:cs typeface="Roboto Condensed" pitchFamily="34" charset="-120"/>
              </a:rPr>
              <a:t>Deep learning-based human pose estimation for fitness applications.</a:t>
            </a:r>
            <a:r>
              <a:rPr lang="en-US" sz="1550" dirty="0">
                <a:solidFill>
                  <a:srgbClr val="55575A"/>
                </a:solidFill>
                <a:latin typeface="Roboto Condensed" pitchFamily="34" charset="0"/>
                <a:ea typeface="Roboto Condensed" pitchFamily="34" charset="-122"/>
                <a:cs typeface="Roboto Condensed" pitchFamily="34" charset="-120"/>
              </a:rPr>
              <a:t> IEEE Access.</a:t>
            </a:r>
            <a:endParaRPr lang="en-US" sz="1550" dirty="0"/>
          </a:p>
          <a:p>
            <a:pPr marL="342900" indent="-342900" algn="l">
              <a:lnSpc>
                <a:spcPts val="2500"/>
              </a:lnSpc>
              <a:buSzPct val="100000"/>
              <a:buChar char="•"/>
            </a:pPr>
            <a:r>
              <a:rPr lang="en-US" sz="1550" dirty="0">
                <a:solidFill>
                  <a:srgbClr val="55575A"/>
                </a:solidFill>
                <a:latin typeface="Roboto Condensed" pitchFamily="34" charset="0"/>
                <a:ea typeface="Roboto Condensed" pitchFamily="34" charset="-122"/>
                <a:cs typeface="Roboto Condensed" pitchFamily="34" charset="-120"/>
              </a:rPr>
              <a:t>Wang, J. et al. (2021). </a:t>
            </a:r>
            <a:r>
              <a:rPr lang="en-US" sz="1550" i="1" dirty="0">
                <a:solidFill>
                  <a:srgbClr val="55575A"/>
                </a:solidFill>
                <a:latin typeface="Roboto Condensed" pitchFamily="34" charset="0"/>
                <a:ea typeface="Roboto Condensed" pitchFamily="34" charset="-122"/>
                <a:cs typeface="Roboto Condensed" pitchFamily="34" charset="-120"/>
              </a:rPr>
              <a:t>Real-time exercise form assessment using temporal convolutional networks.</a:t>
            </a:r>
            <a:r>
              <a:rPr lang="en-US" sz="1550" dirty="0">
                <a:solidFill>
                  <a:srgbClr val="55575A"/>
                </a:solidFill>
                <a:latin typeface="Roboto Condensed" pitchFamily="34" charset="0"/>
                <a:ea typeface="Roboto Condensed" pitchFamily="34" charset="-122"/>
                <a:cs typeface="Roboto Condensed" pitchFamily="34" charset="-120"/>
              </a:rPr>
              <a:t> ACM CHI.</a:t>
            </a:r>
            <a:endParaRPr lang="en-US" sz="1550" dirty="0"/>
          </a:p>
        </p:txBody>
      </p:sp>
      <p:pic>
        <p:nvPicPr>
          <p:cNvPr id="15" name="Picture 14">
            <a:extLst>
              <a:ext uri="{FF2B5EF4-FFF2-40B4-BE49-F238E27FC236}">
                <a16:creationId xmlns:a16="http://schemas.microsoft.com/office/drawing/2014/main" id="{2FFB8CCD-5107-D1DF-039A-928ABA7BFA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16" name="Footer Placeholder 3">
            <a:extLst>
              <a:ext uri="{FF2B5EF4-FFF2-40B4-BE49-F238E27FC236}">
                <a16:creationId xmlns:a16="http://schemas.microsoft.com/office/drawing/2014/main" id="{878A8B11-3777-190D-D822-1A1F3E8AB90B}"/>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1440299"/>
            <a:ext cx="1617345" cy="373142"/>
          </a:xfrm>
          <a:prstGeom prst="roundRect">
            <a:avLst>
              <a:gd name="adj" fmla="val 6383"/>
            </a:avLst>
          </a:prstGeom>
          <a:solidFill>
            <a:srgbClr val="E7E7E4"/>
          </a:solidFill>
          <a:ln/>
        </p:spPr>
      </p:sp>
      <p:sp>
        <p:nvSpPr>
          <p:cNvPr id="3" name="Text 1"/>
          <p:cNvSpPr/>
          <p:nvPr/>
        </p:nvSpPr>
        <p:spPr>
          <a:xfrm>
            <a:off x="912852" y="1499830"/>
            <a:ext cx="1379220"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ACKNOWLEDGMENTS</a:t>
            </a:r>
            <a:endParaRPr lang="en-US" sz="1250" dirty="0"/>
          </a:p>
        </p:txBody>
      </p:sp>
      <p:sp>
        <p:nvSpPr>
          <p:cNvPr id="4" name="Text 2"/>
          <p:cNvSpPr/>
          <p:nvPr/>
        </p:nvSpPr>
        <p:spPr>
          <a:xfrm>
            <a:off x="793790" y="1892737"/>
            <a:ext cx="6283047" cy="620078"/>
          </a:xfrm>
          <a:prstGeom prst="rect">
            <a:avLst/>
          </a:prstGeom>
          <a:noFill/>
          <a:ln/>
        </p:spPr>
        <p:txBody>
          <a:bodyPr wrap="none" lIns="0" tIns="0" rIns="0" bIns="0" rtlCol="0" anchor="t"/>
          <a:lstStyle/>
          <a:p>
            <a:pPr marL="0" indent="0" algn="l">
              <a:lnSpc>
                <a:spcPts val="4850"/>
              </a:lnSpc>
              <a:buNone/>
            </a:pPr>
            <a:r>
              <a:rPr lang="en-US" sz="3900" b="1" dirty="0">
                <a:solidFill>
                  <a:srgbClr val="0C0D0F"/>
                </a:solidFill>
                <a:latin typeface="Hubot Sans Bold" pitchFamily="34" charset="0"/>
                <a:ea typeface="Hubot Sans Bold" pitchFamily="34" charset="-122"/>
                <a:cs typeface="Hubot Sans Bold" pitchFamily="34" charset="-120"/>
              </a:rPr>
              <a:t>GRATITUDE &amp; SUPPORT</a:t>
            </a:r>
            <a:endParaRPr lang="en-US" sz="3900" dirty="0"/>
          </a:p>
        </p:txBody>
      </p:sp>
      <p:sp>
        <p:nvSpPr>
          <p:cNvPr id="5" name="Text 3"/>
          <p:cNvSpPr/>
          <p:nvPr/>
        </p:nvSpPr>
        <p:spPr>
          <a:xfrm>
            <a:off x="793790" y="281047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This research was made possible through the support and guidance of several individuals and institutions.</a:t>
            </a:r>
            <a:endParaRPr lang="en-US" sz="1550" dirty="0"/>
          </a:p>
        </p:txBody>
      </p:sp>
      <p:sp>
        <p:nvSpPr>
          <p:cNvPr id="6" name="Shape 4"/>
          <p:cNvSpPr/>
          <p:nvPr/>
        </p:nvSpPr>
        <p:spPr>
          <a:xfrm>
            <a:off x="793790" y="3351252"/>
            <a:ext cx="6422231" cy="1778556"/>
          </a:xfrm>
          <a:prstGeom prst="roundRect">
            <a:avLst>
              <a:gd name="adj" fmla="val 1674"/>
            </a:avLst>
          </a:prstGeom>
          <a:solidFill>
            <a:srgbClr val="C8CAC1">
              <a:alpha val="50000"/>
            </a:srgbClr>
          </a:solidFill>
          <a:ln/>
        </p:spPr>
      </p:sp>
      <p:sp>
        <p:nvSpPr>
          <p:cNvPr id="7" name="Text 5"/>
          <p:cNvSpPr/>
          <p:nvPr/>
        </p:nvSpPr>
        <p:spPr>
          <a:xfrm>
            <a:off x="992148" y="3549610"/>
            <a:ext cx="3281482"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Hubot Sans Bold" pitchFamily="34" charset="0"/>
                <a:ea typeface="Hubot Sans Bold" pitchFamily="34" charset="-122"/>
                <a:cs typeface="Hubot Sans Bold" pitchFamily="34" charset="-120"/>
              </a:rPr>
              <a:t>RESEARCH SUPERVISOR</a:t>
            </a:r>
            <a:endParaRPr lang="en-US" sz="1950" dirty="0"/>
          </a:p>
        </p:txBody>
      </p:sp>
      <p:sp>
        <p:nvSpPr>
          <p:cNvPr id="8" name="Text 6"/>
          <p:cNvSpPr/>
          <p:nvPr/>
        </p:nvSpPr>
        <p:spPr>
          <a:xfrm>
            <a:off x="992148" y="3978831"/>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Condensed" pitchFamily="34" charset="0"/>
                <a:ea typeface="Roboto Condensed" pitchFamily="34" charset="-122"/>
                <a:cs typeface="Roboto Condensed" pitchFamily="34" charset="-120"/>
              </a:rPr>
              <a:t>Grateful thanks to the primary supervisor for their expert guidance on experimental design, biomechanical validation, and academic rigour throughout this project.</a:t>
            </a:r>
            <a:endParaRPr lang="en-US" sz="1550" dirty="0"/>
          </a:p>
        </p:txBody>
      </p:sp>
      <p:sp>
        <p:nvSpPr>
          <p:cNvPr id="9" name="Shape 7"/>
          <p:cNvSpPr/>
          <p:nvPr/>
        </p:nvSpPr>
        <p:spPr>
          <a:xfrm>
            <a:off x="6115666" y="5782271"/>
            <a:ext cx="6422231" cy="1778556"/>
          </a:xfrm>
          <a:prstGeom prst="roundRect">
            <a:avLst>
              <a:gd name="adj" fmla="val 1674"/>
            </a:avLst>
          </a:prstGeom>
          <a:solidFill>
            <a:srgbClr val="C8CAC1">
              <a:alpha val="50000"/>
            </a:srgbClr>
          </a:solidFill>
          <a:ln/>
        </p:spPr>
      </p:sp>
      <p:sp>
        <p:nvSpPr>
          <p:cNvPr id="10" name="Text 8"/>
          <p:cNvSpPr/>
          <p:nvPr/>
        </p:nvSpPr>
        <p:spPr>
          <a:xfrm>
            <a:off x="7546477" y="6012846"/>
            <a:ext cx="4408646"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Hubot Sans Bold" pitchFamily="34" charset="0"/>
                <a:ea typeface="Hubot Sans Bold" pitchFamily="34" charset="-122"/>
                <a:cs typeface="Hubot Sans Bold" pitchFamily="34" charset="-120"/>
              </a:rPr>
              <a:t>VIDEO RECORDING VOLUNTEERS</a:t>
            </a:r>
            <a:endParaRPr lang="en-US" sz="1950" dirty="0"/>
          </a:p>
        </p:txBody>
      </p:sp>
      <p:sp>
        <p:nvSpPr>
          <p:cNvPr id="11" name="Text 9"/>
          <p:cNvSpPr/>
          <p:nvPr/>
        </p:nvSpPr>
        <p:spPr>
          <a:xfrm>
            <a:off x="6512382" y="6553578"/>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Condensed" pitchFamily="34" charset="0"/>
                <a:ea typeface="Roboto Condensed" pitchFamily="34" charset="-122"/>
                <a:cs typeface="Roboto Condensed" pitchFamily="34" charset="-120"/>
              </a:rPr>
              <a:t>Appreciation to all participants who contributed exercise footage, enabling the construction of a diverse and representative dataset.</a:t>
            </a:r>
            <a:endParaRPr lang="en-US" sz="1550" dirty="0"/>
          </a:p>
        </p:txBody>
      </p:sp>
      <p:pic>
        <p:nvPicPr>
          <p:cNvPr id="18" name="Picture 17">
            <a:extLst>
              <a:ext uri="{FF2B5EF4-FFF2-40B4-BE49-F238E27FC236}">
                <a16:creationId xmlns:a16="http://schemas.microsoft.com/office/drawing/2014/main" id="{B13F2CF8-C873-4831-1ECB-002573AFF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636752"/>
            <a:ext cx="6847284" cy="855821"/>
          </a:xfrm>
          <a:prstGeom prst="rect">
            <a:avLst/>
          </a:prstGeom>
          <a:noFill/>
          <a:ln/>
        </p:spPr>
        <p:txBody>
          <a:bodyPr wrap="none" lIns="0" tIns="0" rIns="0" bIns="0" rtlCol="0" anchor="t"/>
          <a:lstStyle/>
          <a:p>
            <a:pPr marL="0" indent="0" algn="l">
              <a:lnSpc>
                <a:spcPts val="6700"/>
              </a:lnSpc>
              <a:buNone/>
            </a:pPr>
            <a:r>
              <a:rPr lang="en-US" sz="5350" b="1" dirty="0">
                <a:solidFill>
                  <a:srgbClr val="0C0D0F"/>
                </a:solidFill>
                <a:latin typeface="Hubot Sans Bold" pitchFamily="34" charset="0"/>
                <a:ea typeface="Hubot Sans Bold" pitchFamily="34" charset="-122"/>
                <a:cs typeface="Hubot Sans Bold" pitchFamily="34" charset="-120"/>
              </a:rPr>
              <a:t>THANK YOU</a:t>
            </a:r>
            <a:endParaRPr lang="en-US" sz="5350" dirty="0"/>
          </a:p>
        </p:txBody>
      </p:sp>
      <p:sp>
        <p:nvSpPr>
          <p:cNvPr id="3" name="Text 1"/>
          <p:cNvSpPr/>
          <p:nvPr/>
        </p:nvSpPr>
        <p:spPr>
          <a:xfrm>
            <a:off x="793790" y="288940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55575A"/>
                </a:solidFill>
                <a:latin typeface="Roboto Condensed" pitchFamily="34" charset="0"/>
                <a:ea typeface="Roboto Condensed" pitchFamily="34" charset="-122"/>
                <a:cs typeface="Roboto Condensed" pitchFamily="34" charset="-120"/>
              </a:rPr>
              <a:t>We welcome questions, feedback, and opportunities for collaboration. This work represents a foundational step towards intelligent, accessible, and injury-preventive fitness technology.</a:t>
            </a:r>
            <a:endParaRPr lang="en-US" sz="1550" dirty="0"/>
          </a:p>
        </p:txBody>
      </p:sp>
      <p:sp>
        <p:nvSpPr>
          <p:cNvPr id="4" name="Shape 2"/>
          <p:cNvSpPr/>
          <p:nvPr/>
        </p:nvSpPr>
        <p:spPr>
          <a:xfrm>
            <a:off x="793790" y="3747730"/>
            <a:ext cx="13042821" cy="1461016"/>
          </a:xfrm>
          <a:prstGeom prst="roundRect">
            <a:avLst>
              <a:gd name="adj" fmla="val 2038"/>
            </a:avLst>
          </a:prstGeom>
          <a:solidFill>
            <a:srgbClr val="D8D9D2"/>
          </a:solidFill>
          <a:ln/>
        </p:spPr>
      </p:sp>
      <p:sp>
        <p:nvSpPr>
          <p:cNvPr id="5" name="Shape 3"/>
          <p:cNvSpPr/>
          <p:nvPr/>
        </p:nvSpPr>
        <p:spPr>
          <a:xfrm>
            <a:off x="793790" y="3747730"/>
            <a:ext cx="4347567" cy="1461016"/>
          </a:xfrm>
          <a:prstGeom prst="roundRect">
            <a:avLst>
              <a:gd name="adj" fmla="val 2038"/>
            </a:avLst>
          </a:prstGeom>
          <a:solidFill>
            <a:srgbClr val="D8D9D2"/>
          </a:solidFill>
          <a:ln/>
        </p:spPr>
      </p:sp>
      <p:sp>
        <p:nvSpPr>
          <p:cNvPr id="6" name="Text 4"/>
          <p:cNvSpPr/>
          <p:nvPr/>
        </p:nvSpPr>
        <p:spPr>
          <a:xfrm>
            <a:off x="992148" y="394608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Hubot Sans Bold" pitchFamily="34" charset="0"/>
                <a:ea typeface="Hubot Sans Bold" pitchFamily="34" charset="-122"/>
                <a:cs typeface="Hubot Sans Bold" pitchFamily="34" charset="-120"/>
              </a:rPr>
              <a:t>DATASET</a:t>
            </a:r>
            <a:endParaRPr lang="en-US" sz="1950" dirty="0"/>
          </a:p>
        </p:txBody>
      </p:sp>
      <p:sp>
        <p:nvSpPr>
          <p:cNvPr id="7" name="Text 5"/>
          <p:cNvSpPr/>
          <p:nvPr/>
        </p:nvSpPr>
        <p:spPr>
          <a:xfrm>
            <a:off x="992148" y="4375309"/>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Roboto Condensed" pitchFamily="34" charset="0"/>
                <a:ea typeface="Roboto Condensed" pitchFamily="34" charset="-122"/>
                <a:cs typeface="Roboto Condensed" pitchFamily="34" charset="-120"/>
              </a:rPr>
              <a:t>Open-access release planned upon publication</a:t>
            </a:r>
            <a:endParaRPr lang="en-US" sz="1550" dirty="0"/>
          </a:p>
        </p:txBody>
      </p:sp>
      <p:sp>
        <p:nvSpPr>
          <p:cNvPr id="8" name="Shape 6"/>
          <p:cNvSpPr/>
          <p:nvPr/>
        </p:nvSpPr>
        <p:spPr>
          <a:xfrm>
            <a:off x="5141357" y="3747730"/>
            <a:ext cx="4347567" cy="1461016"/>
          </a:xfrm>
          <a:prstGeom prst="rect">
            <a:avLst/>
          </a:prstGeom>
          <a:solidFill>
            <a:srgbClr val="D8D9D2"/>
          </a:solidFill>
          <a:ln/>
        </p:spPr>
      </p:sp>
      <p:sp>
        <p:nvSpPr>
          <p:cNvPr id="9" name="Shape 7"/>
          <p:cNvSpPr/>
          <p:nvPr/>
        </p:nvSpPr>
        <p:spPr>
          <a:xfrm>
            <a:off x="5141357" y="3747730"/>
            <a:ext cx="22860" cy="1461016"/>
          </a:xfrm>
          <a:prstGeom prst="roundRect">
            <a:avLst>
              <a:gd name="adj" fmla="val 130232"/>
            </a:avLst>
          </a:prstGeom>
          <a:solidFill>
            <a:srgbClr val="AEB0A7"/>
          </a:solidFill>
          <a:ln/>
        </p:spPr>
      </p:sp>
      <p:sp>
        <p:nvSpPr>
          <p:cNvPr id="10" name="Text 8"/>
          <p:cNvSpPr/>
          <p:nvPr/>
        </p:nvSpPr>
        <p:spPr>
          <a:xfrm>
            <a:off x="5339715" y="394608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Hubot Sans Bold" pitchFamily="34" charset="0"/>
                <a:ea typeface="Hubot Sans Bold" pitchFamily="34" charset="-122"/>
                <a:cs typeface="Hubot Sans Bold" pitchFamily="34" charset="-120"/>
              </a:rPr>
              <a:t>PIPELINE</a:t>
            </a:r>
            <a:endParaRPr lang="en-US" sz="1950" dirty="0"/>
          </a:p>
        </p:txBody>
      </p:sp>
      <p:sp>
        <p:nvSpPr>
          <p:cNvPr id="11" name="Text 9"/>
          <p:cNvSpPr/>
          <p:nvPr/>
        </p:nvSpPr>
        <p:spPr>
          <a:xfrm>
            <a:off x="5339715" y="4375309"/>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Roboto Condensed" pitchFamily="34" charset="0"/>
                <a:ea typeface="Roboto Condensed" pitchFamily="34" charset="-122"/>
                <a:cs typeface="Roboto Condensed" pitchFamily="34" charset="-120"/>
              </a:rPr>
              <a:t>GitHub repository with full documentation</a:t>
            </a:r>
            <a:endParaRPr lang="en-US" sz="1550" dirty="0"/>
          </a:p>
        </p:txBody>
      </p:sp>
      <p:sp>
        <p:nvSpPr>
          <p:cNvPr id="12" name="Shape 10"/>
          <p:cNvSpPr/>
          <p:nvPr/>
        </p:nvSpPr>
        <p:spPr>
          <a:xfrm>
            <a:off x="9488924" y="3654966"/>
            <a:ext cx="4347567" cy="1461016"/>
          </a:xfrm>
          <a:prstGeom prst="rect">
            <a:avLst/>
          </a:prstGeom>
          <a:solidFill>
            <a:srgbClr val="D8D9D2"/>
          </a:solidFill>
          <a:ln/>
        </p:spPr>
      </p:sp>
      <p:sp>
        <p:nvSpPr>
          <p:cNvPr id="13" name="Shape 11"/>
          <p:cNvSpPr/>
          <p:nvPr/>
        </p:nvSpPr>
        <p:spPr>
          <a:xfrm>
            <a:off x="9488924" y="3747730"/>
            <a:ext cx="22860" cy="1461016"/>
          </a:xfrm>
          <a:prstGeom prst="roundRect">
            <a:avLst>
              <a:gd name="adj" fmla="val 130232"/>
            </a:avLst>
          </a:prstGeom>
          <a:solidFill>
            <a:srgbClr val="AEB0A7"/>
          </a:solidFill>
          <a:ln/>
        </p:spPr>
      </p:sp>
      <p:sp>
        <p:nvSpPr>
          <p:cNvPr id="14" name="Text 12"/>
          <p:cNvSpPr/>
          <p:nvPr/>
        </p:nvSpPr>
        <p:spPr>
          <a:xfrm>
            <a:off x="9687282" y="394608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Hubot Sans Bold" pitchFamily="34" charset="0"/>
                <a:ea typeface="Hubot Sans Bold" pitchFamily="34" charset="-122"/>
                <a:cs typeface="Hubot Sans Bold" pitchFamily="34" charset="-120"/>
              </a:rPr>
              <a:t>CONTACT</a:t>
            </a:r>
            <a:endParaRPr lang="en-US" sz="1950" dirty="0"/>
          </a:p>
        </p:txBody>
      </p:sp>
      <p:sp>
        <p:nvSpPr>
          <p:cNvPr id="15" name="Text 13"/>
          <p:cNvSpPr/>
          <p:nvPr/>
        </p:nvSpPr>
        <p:spPr>
          <a:xfrm>
            <a:off x="9687282" y="4375309"/>
            <a:ext cx="395085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Condensed" pitchFamily="34" charset="0"/>
                <a:ea typeface="Roboto Condensed" pitchFamily="34" charset="-122"/>
                <a:cs typeface="Roboto Condensed" pitchFamily="34" charset="-120"/>
              </a:rPr>
              <a:t>Corresponding author details available upon request</a:t>
            </a:r>
            <a:endParaRPr lang="en-US" sz="1550" dirty="0"/>
          </a:p>
        </p:txBody>
      </p:sp>
      <p:sp>
        <p:nvSpPr>
          <p:cNvPr id="16" name="Shape 14"/>
          <p:cNvSpPr/>
          <p:nvPr/>
        </p:nvSpPr>
        <p:spPr>
          <a:xfrm>
            <a:off x="793790" y="5431988"/>
            <a:ext cx="13042821" cy="1160740"/>
          </a:xfrm>
          <a:prstGeom prst="roundRect">
            <a:avLst>
              <a:gd name="adj" fmla="val 2565"/>
            </a:avLst>
          </a:prstGeom>
          <a:solidFill>
            <a:srgbClr val="DBDBD6"/>
          </a:solidFill>
          <a:ln/>
        </p:spPr>
      </p:sp>
      <p:pic>
        <p:nvPicPr>
          <p:cNvPr id="17" name="Image 0" descr="preencoded.png"/>
          <p:cNvPicPr>
            <a:picLocks noChangeAspect="1"/>
          </p:cNvPicPr>
          <p:nvPr/>
        </p:nvPicPr>
        <p:blipFill>
          <a:blip r:embed="rId3"/>
          <a:stretch>
            <a:fillRect/>
          </a:stretch>
        </p:blipFill>
        <p:spPr>
          <a:xfrm>
            <a:off x="992148" y="5727263"/>
            <a:ext cx="248007" cy="198358"/>
          </a:xfrm>
          <a:prstGeom prst="rect">
            <a:avLst/>
          </a:prstGeom>
        </p:spPr>
      </p:pic>
      <p:sp>
        <p:nvSpPr>
          <p:cNvPr id="18" name="Text 15"/>
          <p:cNvSpPr/>
          <p:nvPr/>
        </p:nvSpPr>
        <p:spPr>
          <a:xfrm>
            <a:off x="1438513" y="5679877"/>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Roboto Condensed" pitchFamily="34" charset="0"/>
                <a:ea typeface="Roboto Condensed" pitchFamily="34" charset="-122"/>
                <a:cs typeface="Roboto Condensed" pitchFamily="34" charset="-120"/>
              </a:rPr>
              <a:t>Key Insight:</a:t>
            </a:r>
            <a:r>
              <a:rPr lang="en-US" sz="1550" dirty="0">
                <a:solidFill>
                  <a:srgbClr val="000000"/>
                </a:solidFill>
                <a:latin typeface="Roboto Condensed" pitchFamily="34" charset="0"/>
                <a:ea typeface="Roboto Condensed" pitchFamily="34" charset="-122"/>
                <a:cs typeface="Roboto Condensed" pitchFamily="34" charset="-120"/>
              </a:rPr>
              <a:t> Accurate joint angle extraction from 2D video — combined with a labelled dataset and reproducible pipeline — provides a strong foundation for real-time, AI-powered exercise form feedback systems.</a:t>
            </a:r>
            <a:endParaRPr lang="en-US" sz="1550" dirty="0"/>
          </a:p>
        </p:txBody>
      </p:sp>
      <p:pic>
        <p:nvPicPr>
          <p:cNvPr id="19" name="Picture 18">
            <a:extLst>
              <a:ext uri="{FF2B5EF4-FFF2-40B4-BE49-F238E27FC236}">
                <a16:creationId xmlns:a16="http://schemas.microsoft.com/office/drawing/2014/main" id="{12464C30-55DA-AA0B-04A3-4CCA42C092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318" y="129009"/>
            <a:ext cx="1212944" cy="1212944"/>
          </a:xfrm>
          <a:prstGeom prst="rect">
            <a:avLst/>
          </a:prstGeom>
        </p:spPr>
      </p:pic>
      <p:sp>
        <p:nvSpPr>
          <p:cNvPr id="20" name="Footer Placeholder 3">
            <a:extLst>
              <a:ext uri="{FF2B5EF4-FFF2-40B4-BE49-F238E27FC236}">
                <a16:creationId xmlns:a16="http://schemas.microsoft.com/office/drawing/2014/main" id="{1E733DDC-29D8-9621-2421-C0485797200B}"/>
              </a:ext>
            </a:extLst>
          </p:cNvPr>
          <p:cNvSpPr txBox="1">
            <a:spLocks/>
          </p:cNvSpPr>
          <p:nvPr/>
        </p:nvSpPr>
        <p:spPr>
          <a:xfrm>
            <a:off x="5201011" y="7764376"/>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Department of Computer Science </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2523</Words>
  <Application>Microsoft Macintosh PowerPoint</Application>
  <PresentationFormat>Custom</PresentationFormat>
  <Paragraphs>310</Paragraphs>
  <Slides>21</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-apple-system, BlinkMacSystemFont, Segoe UI, Roboto, Helvetica Neue, Arial, sans-serif Medium</vt:lpstr>
      <vt:lpstr>Roboto Condensed</vt:lpstr>
      <vt:lpstr>Arial</vt:lpstr>
      <vt:lpstr>Consolas</vt:lpstr>
      <vt:lpstr>Hubot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Harshil Chauhan</cp:lastModifiedBy>
  <cp:revision>8</cp:revision>
  <dcterms:created xsi:type="dcterms:W3CDTF">2026-04-05T19:27:40Z</dcterms:created>
  <dcterms:modified xsi:type="dcterms:W3CDTF">2026-04-06T07:27:22Z</dcterms:modified>
</cp:coreProperties>
</file>